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60" r:id="rId6"/>
    <p:sldId id="273" r:id="rId7"/>
    <p:sldId id="259" r:id="rId8"/>
    <p:sldId id="262" r:id="rId9"/>
    <p:sldId id="268" r:id="rId10"/>
    <p:sldId id="267" r:id="rId11"/>
    <p:sldId id="269" r:id="rId12"/>
    <p:sldId id="270" r:id="rId13"/>
    <p:sldId id="261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ADCE-BCDC-B920-5EC4-4B09C5F9E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3A81D-9CBF-92F0-AC89-20B2929D1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399D0-3BC1-CC97-AAFA-5B19B885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8FB32-5C8D-B4E8-091D-AC4EEF62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A18A6-AF02-3BBD-BE44-BA6E477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1DB71-53BA-EC50-0DC7-871741D8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19DB1-1CF2-4BC8-9DF8-B18A1C104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B79CF-E3CF-B21D-67B7-A9CE254D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C491D-2622-EBA6-ED5F-0A7A930F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3B3D8-3E38-F3AF-1A72-2C4689C64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9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1A138-A7A1-569A-E0C5-35DFA7C61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4F69A-DDDA-42CB-B687-EDF6C1B4E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21E4D-BD1D-7C4C-8741-ABB96FDE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21270-8B77-B174-C056-FC8F1A49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DE03E-2E57-3823-A382-2E254318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4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5C44-4209-EF19-4999-681E2BFA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A4B4D-0C57-A10D-8E21-678BB77DA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ED67A-73ED-30D5-E152-4841A2052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CE177-1709-1B0B-814D-16B41A83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3505A-D3CC-DEF1-D1E3-C1F0BE05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A193A-598A-3966-145F-C595012A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1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4BB8-5243-28B4-09B9-8AFBFCDB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A09E1-61BE-0C2D-25D9-5E06A41A5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68CD7-B60C-0E38-D18B-FCCB044E1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18417F-C808-68C8-82B8-1B3DDD5C1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BE472-8F1E-BD0B-5A49-72B566469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467A7-5909-C97F-16FD-378C70642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02EAD-EF7F-7D8B-55AC-A6238783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25FBE-CB53-2432-8B9A-B58E924D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6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2E10-0A84-568E-A8F7-B0C972C6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23CD7-1B41-76F1-5B87-83C0CECA1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0C3CE-52CE-4EDA-43B3-9A4EA337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DA76A-CB9C-C544-A784-8CAE5AAC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5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9CC16-107A-3BBB-99CB-B2FA7C5F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44309-A489-DF1F-6D27-59D364BA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C1736-20A3-AA32-B703-49D7484F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25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75C5-BCBE-F1D2-CAE8-64CB986AD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AC7D8-34EE-09FE-EDA5-ADC30EC73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B31A4-11DE-C47B-354D-AF5CAA553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C3814-D3BD-0A55-DBD5-F58A1E3AC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9CDA7-B9BF-DC00-5C67-13B603BB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27A43-79AF-EC32-1DB4-60A3E8A1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4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A8C8-0A1B-5663-521D-9EF1A099C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F3851-2497-862B-3153-8C31589BD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DB427-5C7D-C7DF-B578-68A99A06A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6331C-2606-1112-B128-FAEBF57F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F1AD0-C4A3-BFDE-FDB5-A656445E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09302-C59A-1271-E674-0DA9C3A5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4F0C-343B-F7B5-8061-00B8E4E6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55628-B5C9-FBEB-7D76-77946BAC8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FC4F1-CE57-860A-8CA1-2C36C800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2F1D1-87FB-F867-91F7-0F2ABFB1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1F67D-513F-46F0-D16F-2083A8AE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92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91AF75-F0FB-EC9C-3CD4-5F9AD2B6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EFD48-9706-5130-BF0B-064C0E357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E2761-4E42-E6C6-9A12-B872F8C0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DF51-3C0F-7A41-90C5-63DAB4310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E7D11-DD57-AD47-62DA-8347B490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D4883D-4A25-5568-E38F-2D660BB4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960DA-E7EC-F7B0-56C5-8BE4D394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AE488-AE17-44F6-445A-C18D2DD38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82A83-C157-45D0-85A5-644CB15296D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90E0D-D06A-EA4E-38E7-9B995DA76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287C6-60EA-A3C9-58AF-4315EBAFF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4D0D2-C586-44FE-8DF3-21E4E02D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9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F6B7-F203-B93B-7874-AF8B4B007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Foundations of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55AD7-D2CC-171B-F071-F14170C54C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Exploring and Understanding the Insurance Dataset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- Yugratna Humagain</a:t>
            </a:r>
          </a:p>
        </p:txBody>
      </p:sp>
    </p:spTree>
    <p:extLst>
      <p:ext uri="{BB962C8B-B14F-4D97-AF65-F5344CB8AC3E}">
        <p14:creationId xmlns:p14="http://schemas.microsoft.com/office/powerpoint/2010/main" val="3523959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D586-A74C-075E-CAEC-269F0C32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92419-09E9-AA17-2405-29E1B559A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Cleanse, analyze, and visualize real-world data before modeling.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Reveal the story hidden in the insurance dataset.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Python, pandas, numpy, matplotlib, seaborn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30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9361-6052-A3AD-85A9-03BC3D8D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Discovery &amp; Initial Inspection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94E7-95F9-A7C1-B277-F88AF3BB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Dataset: insurance_cleaned.csv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Rows &amp; Columns: 1337 rows, 9 columns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Features: age, sex,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children, smoker, region, charges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Extracted Feature: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age_group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bmi_category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68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93D60-75E9-63C8-A64D-4AF94BEA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2CAE-73AD-5A4E-32AC-96FBAF41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 Data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5BC718-D3CF-310A-BF5C-E0C82BA9E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2419209"/>
            <a:ext cx="8183117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8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83A82-FA8A-79DC-3BBB-967B8E67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21D3-D89D-C296-88A7-3429AAC0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Wrangling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A525E-4DE9-2012-DEFC-4A45D3815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Missing Values: No missing values in any column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df.isnull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().sum())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Types: Correctly assigned (int, float, object)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 Engineering: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age_group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(e.g., Young, Middle, Senior)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bmi_category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(e.g., Underweight, Normal, Overweight, Obese)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77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5577-B0D0-107C-161F-339A56E0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BC121-10DD-8B1F-1138-5F1D08C0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Wrangling (Summary Statistics)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F1BA12-5B3E-3441-1864-F42F5774B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3" y="1876891"/>
            <a:ext cx="9955014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1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015C-A212-239C-1736-E5468AB7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2224-B328-49C2-8BF9-2EF522AA6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Numeric Features: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Age: Nearly symmetric distribution (skewness ≈ 0.05)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BMI: Slightly right-skewed (skewness ≈ 0.28)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Charges: Strong right skew (skewness ≈ 1.52)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Categorical Features: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Balanced distribution for sex, region, etc.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(Histograms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countplots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EDA notebook)</a:t>
            </a:r>
          </a:p>
        </p:txBody>
      </p:sp>
    </p:spTree>
    <p:extLst>
      <p:ext uri="{BB962C8B-B14F-4D97-AF65-F5344CB8AC3E}">
        <p14:creationId xmlns:p14="http://schemas.microsoft.com/office/powerpoint/2010/main" val="350360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6369-A2F5-C0E4-665C-B89A67D3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2606-3B0B-DF36-F0D4-DB938BA8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Bivariate Analysis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6738-8EE7-CD19-454E-852709F19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Scatterplots: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 vs. Charges: Positive trend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BMI vs. Charges: Higher BMI, higher charges (especially for smokers)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Pairplot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Visualizes relationships and distributions across key variables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Correlation Heatmap: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Charges highly correlated with age,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smoker status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9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C69B-4A1F-A04D-DEC6-AA804C6D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F988-BD72-9F88-DC4E-35D61F985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85448" y="2766214"/>
            <a:ext cx="6777873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Bivariate Analysis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Pairplot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2064AD-E000-EDE8-573B-E0F99A820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4246" y="531177"/>
            <a:ext cx="6283507" cy="5795639"/>
          </a:xfrm>
        </p:spPr>
      </p:pic>
    </p:spTree>
    <p:extLst>
      <p:ext uri="{BB962C8B-B14F-4D97-AF65-F5344CB8AC3E}">
        <p14:creationId xmlns:p14="http://schemas.microsoft.com/office/powerpoint/2010/main" val="180716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4FE6-90FB-C52E-FAA6-C5A8ABC5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3B7C-2D51-6503-6EE3-DE3585EF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Bivariate Analysis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Pairplot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DCE7F-9896-2CAE-78EE-312B9AF3B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Smokers (blue) face higher insurance charges than non-smokers (orange).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Age-related charges increase steeper for smokers.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BMI correlates with higher charges, especially for smokers.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Children's number doesn't strongly impact charges.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Smokers dominate the high-charge range, a minority.</a:t>
            </a:r>
          </a:p>
        </p:txBody>
      </p:sp>
    </p:spTree>
    <p:extLst>
      <p:ext uri="{BB962C8B-B14F-4D97-AF65-F5344CB8AC3E}">
        <p14:creationId xmlns:p14="http://schemas.microsoft.com/office/powerpoint/2010/main" val="271861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EAEA-E91B-BCCE-9214-696E0A6D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A9AC-7774-C461-26A0-684FC362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317423" y="2766216"/>
            <a:ext cx="6777873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Bivariate Analysis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13A3DE-3F97-6C5E-6B00-699C541D3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7998" y="202593"/>
            <a:ext cx="7290719" cy="6452814"/>
          </a:xfrm>
        </p:spPr>
      </p:pic>
    </p:spTree>
    <p:extLst>
      <p:ext uri="{BB962C8B-B14F-4D97-AF65-F5344CB8AC3E}">
        <p14:creationId xmlns:p14="http://schemas.microsoft.com/office/powerpoint/2010/main" val="209101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8A68-D904-BCE5-34D1-ADA1D38E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C2C8-EA0E-C3C7-1D9F-5FB955A1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Bivariate Analysis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89D7-7F9D-0699-B24E-3EE2147F4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Strongest Correlations in Charges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correlation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smoker_yes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(0.79).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Strong positive correlation with age (0.30).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Moderate correlation with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(0.20).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Log-transformed charges show stronger correlation with age (0.53).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Weak/No Correlation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Children, sex, and region have weak or near-zero correlation with charges.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regions do not significantly affect charges.</a:t>
            </a:r>
          </a:p>
        </p:txBody>
      </p:sp>
    </p:spTree>
    <p:extLst>
      <p:ext uri="{BB962C8B-B14F-4D97-AF65-F5344CB8AC3E}">
        <p14:creationId xmlns:p14="http://schemas.microsoft.com/office/powerpoint/2010/main" val="1950677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DC64-B064-E333-FB0C-6500CF12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D9B0-7363-E140-2055-6AD49823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Outlier Detection &amp;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2D7A0-CBB1-06C5-6867-8569CF56F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Boxplots: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Outliers present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charges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Treatment Methods: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IQR filtering (reduced dataset size)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Capping extreme values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Median imputation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Z-score filtering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(Before/after boxplots in EDA notebook)</a:t>
            </a:r>
          </a:p>
        </p:txBody>
      </p:sp>
    </p:spTree>
    <p:extLst>
      <p:ext uri="{BB962C8B-B14F-4D97-AF65-F5344CB8AC3E}">
        <p14:creationId xmlns:p14="http://schemas.microsoft.com/office/powerpoint/2010/main" val="1791237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1B868-D277-BEB0-5A34-95088758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2430-D511-30B8-9B6C-49683926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6B065-31D0-E994-3029-4A1956D50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Smoker Status: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Smokers pay significantly higher charges.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 &amp; Charges: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Older individuals tend to have higher charges.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BMI &amp; Charges: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Obese individuals, especially smokers, incur the highest charges.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Region &amp; Charges: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Minor regional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341912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7D19-3401-7ECE-37E3-F80F0361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6202-F967-A5E3-92B0-F6122072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Visualization with Matplotlib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F0EF-14CC-B076-9CFF-C99661ED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 Plots: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Line, scatter, bar, histogram (demonstrated with sample and real data)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Customization: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Titles, labels, legends, figure size, saving plots</a:t>
            </a:r>
          </a:p>
        </p:txBody>
      </p:sp>
    </p:spTree>
    <p:extLst>
      <p:ext uri="{BB962C8B-B14F-4D97-AF65-F5344CB8AC3E}">
        <p14:creationId xmlns:p14="http://schemas.microsoft.com/office/powerpoint/2010/main" val="240882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668D-34AA-B2C1-E978-B4D3EC04D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284D-0125-EA9C-FEAB-F4614CEB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Storytelling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4C0B-46C0-A9E5-4896-FDBADE811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Story: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Health insurance charges are driven by age, BMI, and smoking.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wrangling and EDA reveal hidden patterns and outliers.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Visualizations make complex relationships clear and actionable.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Next Steps: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these insights for predictive modeling or targeted interventions</a:t>
            </a:r>
          </a:p>
        </p:txBody>
      </p:sp>
    </p:spTree>
    <p:extLst>
      <p:ext uri="{BB962C8B-B14F-4D97-AF65-F5344CB8AC3E}">
        <p14:creationId xmlns:p14="http://schemas.microsoft.com/office/powerpoint/2010/main" val="4269284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F4BFCF-2F43-5C1D-4A27-157DD391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427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Arial" panose="020B0604020202020204" pitchFamily="34" charset="0"/>
                <a:cs typeface="Arial" panose="020B0604020202020204" pitchFamily="34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139913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575</Words>
  <Application>Microsoft Office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Foundations of Data Science</vt:lpstr>
      <vt:lpstr>Introduction</vt:lpstr>
      <vt:lpstr>Data Discovery &amp; Initial Inspection</vt:lpstr>
      <vt:lpstr>Sample Data</vt:lpstr>
      <vt:lpstr>Data Wrangling</vt:lpstr>
      <vt:lpstr>Data Wrangling (Summary Statistics)</vt:lpstr>
      <vt:lpstr>Univariate Analysis</vt:lpstr>
      <vt:lpstr>Bivariate Analysis (Overview)</vt:lpstr>
      <vt:lpstr>Bivariate Analysis (Pairplot)</vt:lpstr>
      <vt:lpstr>Bivariate Analysis (Pairplot)</vt:lpstr>
      <vt:lpstr>Bivariate Analysis (HeatMap)</vt:lpstr>
      <vt:lpstr>Bivariate Analysis (HeatMap)</vt:lpstr>
      <vt:lpstr>Outlier Detection &amp; Treatment</vt:lpstr>
      <vt:lpstr>Key Insights</vt:lpstr>
      <vt:lpstr>Data Visualization with Matplotlib</vt:lpstr>
      <vt:lpstr>Storytelling &amp; Conclusions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Yugratna Humagain</dc:creator>
  <cp:lastModifiedBy>Yugratna Humagain</cp:lastModifiedBy>
  <cp:revision>4</cp:revision>
  <dcterms:created xsi:type="dcterms:W3CDTF">2025-05-27T13:44:35Z</dcterms:created>
  <dcterms:modified xsi:type="dcterms:W3CDTF">2025-05-27T15:25:00Z</dcterms:modified>
</cp:coreProperties>
</file>