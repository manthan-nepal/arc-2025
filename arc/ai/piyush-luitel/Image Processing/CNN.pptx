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schemas.openxmlformats.org/officeDocument/2006/relationships/slide" Target="slides/slide19.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9e4911724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9e4911724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9e4911724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9e4911724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4f3dcd69d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4f3dcd69d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4f3dcd69d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4f3dcd69d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4f3dcd69d6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4f3dcd69d6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4f3dcd69d6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4f3dcd69d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4f3dcd69d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4f3dcd69d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4f3dcd69d6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4f3dcd69d6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4f3dcd69d6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4f3dcd69d6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4f3dcd69d6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4f3dcd69d6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4f3dcd69d6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4f3dcd69d6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4f3dcd69d6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4f3dcd69d6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4f3dcd69d6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4f3dcd69d6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4f3dcd69d6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4f3dcd69d6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4f3dcd69d6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4f3dcd69d6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4f3dcd69d6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4f3dcd69d6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4f3dcd69d6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4f3dcd69d6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4f3dcd69d6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4f3dcd69d6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stanford.edu/~shervine/teaching/cs-230" TargetMode="External"/><Relationship Id="rId4" Type="http://schemas.openxmlformats.org/officeDocument/2006/relationships/hyperlink" Target="https://mit6874.github.io"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266000" y="1074425"/>
            <a:ext cx="8520600" cy="19320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b="1" lang="en-GB" sz="4300">
                <a:solidFill>
                  <a:srgbClr val="434343"/>
                </a:solidFill>
              </a:rPr>
              <a:t>A Presentation </a:t>
            </a:r>
            <a:endParaRPr b="1" sz="4300">
              <a:solidFill>
                <a:srgbClr val="434343"/>
              </a:solidFill>
            </a:endParaRPr>
          </a:p>
          <a:p>
            <a:pPr indent="0" lvl="0" marL="0" rtl="0" algn="ctr">
              <a:spcBef>
                <a:spcPts val="0"/>
              </a:spcBef>
              <a:spcAft>
                <a:spcPts val="0"/>
              </a:spcAft>
              <a:buNone/>
            </a:pPr>
            <a:r>
              <a:rPr b="1" lang="en-GB" sz="4300">
                <a:solidFill>
                  <a:srgbClr val="434343"/>
                </a:solidFill>
              </a:rPr>
              <a:t>On</a:t>
            </a:r>
            <a:endParaRPr b="1" sz="4300">
              <a:solidFill>
                <a:srgbClr val="434343"/>
              </a:solidFill>
            </a:endParaRPr>
          </a:p>
          <a:p>
            <a:pPr indent="0" lvl="0" marL="0" rtl="0" algn="ctr">
              <a:spcBef>
                <a:spcPts val="0"/>
              </a:spcBef>
              <a:spcAft>
                <a:spcPts val="0"/>
              </a:spcAft>
              <a:buNone/>
            </a:pPr>
            <a:r>
              <a:rPr lang="en-GB" sz="4300"/>
              <a:t>“</a:t>
            </a:r>
            <a:r>
              <a:rPr b="1" lang="en-GB" sz="3855">
                <a:solidFill>
                  <a:srgbClr val="85200C"/>
                </a:solidFill>
              </a:rPr>
              <a:t>Convolution Neural Networks</a:t>
            </a:r>
            <a:r>
              <a:rPr lang="en-GB" sz="4300"/>
              <a:t>”</a:t>
            </a:r>
            <a:endParaRPr sz="4300"/>
          </a:p>
        </p:txBody>
      </p:sp>
      <p:sp>
        <p:nvSpPr>
          <p:cNvPr id="55" name="Google Shape;55;p13"/>
          <p:cNvSpPr txBox="1"/>
          <p:nvPr/>
        </p:nvSpPr>
        <p:spPr>
          <a:xfrm>
            <a:off x="3175650" y="3534250"/>
            <a:ext cx="27927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u="sng">
                <a:solidFill>
                  <a:schemeClr val="dk2"/>
                </a:solidFill>
              </a:rPr>
              <a:t>Compiled By</a:t>
            </a:r>
            <a:endParaRPr b="1" u="sng">
              <a:solidFill>
                <a:schemeClr val="dk2"/>
              </a:solidFill>
            </a:endParaRPr>
          </a:p>
          <a:p>
            <a:pPr indent="0" lvl="0" marL="0" rtl="0" algn="ctr">
              <a:spcBef>
                <a:spcPts val="0"/>
              </a:spcBef>
              <a:spcAft>
                <a:spcPts val="0"/>
              </a:spcAft>
              <a:buNone/>
            </a:pPr>
            <a:r>
              <a:rPr lang="en-GB">
                <a:solidFill>
                  <a:schemeClr val="dk2"/>
                </a:solidFill>
              </a:rPr>
              <a:t>Er. Sushil Dyopala</a:t>
            </a:r>
            <a:endParaRPr>
              <a:solidFill>
                <a:schemeClr val="dk2"/>
              </a:solidFill>
            </a:endParaRPr>
          </a:p>
        </p:txBody>
      </p:sp>
      <p:sp>
        <p:nvSpPr>
          <p:cNvPr id="56" name="Google Shape;56;p13"/>
          <p:cNvSpPr txBox="1"/>
          <p:nvPr/>
        </p:nvSpPr>
        <p:spPr>
          <a:xfrm>
            <a:off x="3337500" y="4503450"/>
            <a:ext cx="2469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a:solidFill>
                  <a:schemeClr val="dk2"/>
                </a:solidFill>
              </a:rPr>
              <a:t>Date: April 21, 2025</a:t>
            </a:r>
            <a:endParaRPr>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Topics</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GB"/>
              <a:t>Introduction</a:t>
            </a:r>
            <a:endParaRPr/>
          </a:p>
          <a:p>
            <a:pPr indent="-342900" lvl="0" marL="457200" rtl="0" algn="l">
              <a:spcBef>
                <a:spcPts val="1000"/>
              </a:spcBef>
              <a:spcAft>
                <a:spcPts val="0"/>
              </a:spcAft>
              <a:buSzPts val="1800"/>
              <a:buAutoNum type="arabicPeriod"/>
            </a:pPr>
            <a:r>
              <a:rPr lang="en-GB"/>
              <a:t>CNN Architecture</a:t>
            </a:r>
            <a:endParaRPr/>
          </a:p>
          <a:p>
            <a:pPr indent="-342900" lvl="0" marL="457200" rtl="0" algn="l">
              <a:spcBef>
                <a:spcPts val="1000"/>
              </a:spcBef>
              <a:spcAft>
                <a:spcPts val="0"/>
              </a:spcAft>
              <a:buSzPts val="1800"/>
              <a:buAutoNum type="arabicPeriod"/>
            </a:pPr>
            <a:r>
              <a:rPr lang="en-GB"/>
              <a:t>Convolution Layer</a:t>
            </a:r>
            <a:endParaRPr/>
          </a:p>
          <a:p>
            <a:pPr indent="-342900" lvl="0" marL="457200" rtl="0" algn="l">
              <a:spcBef>
                <a:spcPts val="1000"/>
              </a:spcBef>
              <a:spcAft>
                <a:spcPts val="0"/>
              </a:spcAft>
              <a:buSzPts val="1800"/>
              <a:buAutoNum type="arabicPeriod"/>
            </a:pPr>
            <a:r>
              <a:rPr lang="en-GB"/>
              <a:t>Pooling Layer</a:t>
            </a:r>
            <a:endParaRPr/>
          </a:p>
          <a:p>
            <a:pPr indent="-342900" lvl="0" marL="457200" rtl="0" algn="l">
              <a:spcBef>
                <a:spcPts val="1000"/>
              </a:spcBef>
              <a:spcAft>
                <a:spcPts val="1000"/>
              </a:spcAft>
              <a:buSzPts val="1800"/>
              <a:buAutoNum type="arabicPeriod"/>
            </a:pPr>
            <a:r>
              <a:rPr lang="en-GB"/>
              <a:t>Fully Connected Layer</a:t>
            </a:r>
            <a:endParaRPr/>
          </a:p>
        </p:txBody>
      </p:sp>
      <p:sp>
        <p:nvSpPr>
          <p:cNvPr id="63" name="Google Shape;6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1.0 Convolutional Neural Network</a:t>
            </a:r>
            <a:endParaRPr/>
          </a:p>
          <a:p>
            <a:pPr indent="0" lvl="0" marL="0" rtl="0" algn="l">
              <a:spcBef>
                <a:spcPts val="0"/>
              </a:spcBef>
              <a:spcAft>
                <a:spcPts val="0"/>
              </a:spcAft>
              <a:buNone/>
            </a:pPr>
            <a:r>
              <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Convolutional Neural Network (CNN) is a class of deep neural networks, most commonly used to process images.</a:t>
            </a:r>
            <a:endParaRPr/>
          </a:p>
          <a:p>
            <a:pPr indent="-342900" lvl="0" marL="457200" rtl="0" algn="l">
              <a:spcBef>
                <a:spcPts val="1000"/>
              </a:spcBef>
              <a:spcAft>
                <a:spcPts val="0"/>
              </a:spcAft>
              <a:buSzPts val="1800"/>
              <a:buChar char="●"/>
            </a:pPr>
            <a:r>
              <a:rPr lang="en-GB"/>
              <a:t>CNNs are highly effective for image classification, object detection, and various </a:t>
            </a:r>
            <a:r>
              <a:rPr b="1" lang="en-GB"/>
              <a:t>computer vision tasks</a:t>
            </a:r>
            <a:r>
              <a:rPr lang="en-GB"/>
              <a:t>.</a:t>
            </a:r>
            <a:endParaRPr/>
          </a:p>
          <a:p>
            <a:pPr indent="-342900" lvl="0" marL="457200" rtl="0" algn="l">
              <a:spcBef>
                <a:spcPts val="1000"/>
              </a:spcBef>
              <a:spcAft>
                <a:spcPts val="0"/>
              </a:spcAft>
              <a:buSzPts val="1800"/>
              <a:buChar char="●"/>
            </a:pPr>
            <a:r>
              <a:rPr lang="en-GB"/>
              <a:t>In late 1980s, Yann LeCun and Yoshua Bengio introduced the concept of convolutional neural networks.</a:t>
            </a:r>
            <a:endParaRPr/>
          </a:p>
          <a:p>
            <a:pPr indent="-342900" lvl="0" marL="457200" rtl="0" algn="l">
              <a:spcBef>
                <a:spcPts val="1000"/>
              </a:spcBef>
              <a:spcAft>
                <a:spcPts val="1000"/>
              </a:spcAft>
              <a:buSzPts val="1800"/>
              <a:buChar char="●"/>
            </a:pPr>
            <a:r>
              <a:rPr lang="en-GB"/>
              <a:t>CNNs are commonly known as </a:t>
            </a:r>
            <a:r>
              <a:rPr b="1" lang="en-GB"/>
              <a:t>ConvNets</a:t>
            </a:r>
            <a:r>
              <a:rPr lang="en-GB"/>
              <a:t>.</a:t>
            </a:r>
            <a:endParaRPr/>
          </a:p>
        </p:txBody>
      </p:sp>
      <p:sp>
        <p:nvSpPr>
          <p:cNvPr id="70" name="Google Shape;7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1.1 Convolutional Neural Network: Key Concepts</a:t>
            </a:r>
            <a:endParaRPr/>
          </a:p>
          <a:p>
            <a:pPr indent="0" lvl="0" marL="0" rtl="0" algn="l">
              <a:spcBef>
                <a:spcPts val="0"/>
              </a:spcBef>
              <a:spcAft>
                <a:spcPts val="0"/>
              </a:spcAft>
              <a:buNone/>
            </a:pPr>
            <a:r>
              <a:t/>
            </a:r>
            <a:endParaRPr/>
          </a:p>
        </p:txBody>
      </p:sp>
      <p:sp>
        <p:nvSpPr>
          <p:cNvPr id="76" name="Google Shape;76;p16"/>
          <p:cNvSpPr txBox="1"/>
          <p:nvPr>
            <p:ph idx="1" type="body"/>
          </p:nvPr>
        </p:nvSpPr>
        <p:spPr>
          <a:xfrm>
            <a:off x="311700" y="1152475"/>
            <a:ext cx="39402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b="1" lang="en-GB"/>
              <a:t>Local connectivity</a:t>
            </a:r>
            <a:endParaRPr b="1"/>
          </a:p>
          <a:p>
            <a:pPr indent="-317500" lvl="1" marL="914400" rtl="0" algn="l">
              <a:spcBef>
                <a:spcPts val="1000"/>
              </a:spcBef>
              <a:spcAft>
                <a:spcPts val="0"/>
              </a:spcAft>
              <a:buSzPts val="1400"/>
              <a:buChar char="○"/>
            </a:pPr>
            <a:r>
              <a:rPr lang="en-GB"/>
              <a:t>Neurons are connected only to a small region of the input.</a:t>
            </a:r>
            <a:endParaRPr/>
          </a:p>
          <a:p>
            <a:pPr indent="-342900" lvl="0" marL="457200" rtl="0" algn="l">
              <a:spcBef>
                <a:spcPts val="1000"/>
              </a:spcBef>
              <a:spcAft>
                <a:spcPts val="0"/>
              </a:spcAft>
              <a:buSzPts val="1800"/>
              <a:buChar char="●"/>
            </a:pPr>
            <a:r>
              <a:rPr b="1" lang="en-GB"/>
              <a:t>Parameter sharing</a:t>
            </a:r>
            <a:endParaRPr b="1"/>
          </a:p>
          <a:p>
            <a:pPr indent="-317500" lvl="1" marL="914400" rtl="0" algn="l">
              <a:spcBef>
                <a:spcPts val="1000"/>
              </a:spcBef>
              <a:spcAft>
                <a:spcPts val="0"/>
              </a:spcAft>
              <a:buSzPts val="1400"/>
              <a:buChar char="○"/>
            </a:pPr>
            <a:r>
              <a:rPr lang="en-GB"/>
              <a:t>The same filter is applied across different parts of the input.</a:t>
            </a:r>
            <a:endParaRPr/>
          </a:p>
          <a:p>
            <a:pPr indent="-342900" lvl="0" marL="457200" rtl="0" algn="l">
              <a:spcBef>
                <a:spcPts val="1000"/>
              </a:spcBef>
              <a:spcAft>
                <a:spcPts val="0"/>
              </a:spcAft>
              <a:buSzPts val="1800"/>
              <a:buChar char="●"/>
            </a:pPr>
            <a:r>
              <a:rPr b="1" lang="en-GB"/>
              <a:t>Hierarchical learning</a:t>
            </a:r>
            <a:endParaRPr b="1"/>
          </a:p>
          <a:p>
            <a:pPr indent="-317500" lvl="1" marL="914400" rtl="0" algn="l">
              <a:spcBef>
                <a:spcPts val="1000"/>
              </a:spcBef>
              <a:spcAft>
                <a:spcPts val="1000"/>
              </a:spcAft>
              <a:buSzPts val="1400"/>
              <a:buChar char="○"/>
            </a:pPr>
            <a:r>
              <a:rPr lang="en-GB"/>
              <a:t>Extracts low-level features (edges, textures) in early layers and higher-level features (objects) in deeper layers.</a:t>
            </a:r>
            <a:endParaRPr/>
          </a:p>
        </p:txBody>
      </p:sp>
      <p:sp>
        <p:nvSpPr>
          <p:cNvPr id="77" name="Google Shape;77;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78" name="Google Shape;78;p16" title="CNN-filter-animation-1.gif"/>
          <p:cNvPicPr preferRelativeResize="0"/>
          <p:nvPr/>
        </p:nvPicPr>
        <p:blipFill rotWithShape="1">
          <a:blip r:embed="rId3">
            <a:alphaModFix/>
          </a:blip>
          <a:srcRect b="13822" l="0" r="0" t="0"/>
          <a:stretch/>
        </p:blipFill>
        <p:spPr>
          <a:xfrm>
            <a:off x="4290075" y="1649775"/>
            <a:ext cx="4784425" cy="2305000"/>
          </a:xfrm>
          <a:prstGeom prst="rect">
            <a:avLst/>
          </a:prstGeom>
          <a:noFill/>
          <a:ln>
            <a:noFill/>
          </a:ln>
        </p:spPr>
      </p:pic>
      <p:sp>
        <p:nvSpPr>
          <p:cNvPr id="79" name="Google Shape;79;p16"/>
          <p:cNvSpPr txBox="1"/>
          <p:nvPr/>
        </p:nvSpPr>
        <p:spPr>
          <a:xfrm>
            <a:off x="6454150" y="3893825"/>
            <a:ext cx="1516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rPr>
              <a:t>Shared Filter/Kernel</a:t>
            </a:r>
            <a:endParaRPr sz="11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2.0 CNN Architecture</a:t>
            </a:r>
            <a:endParaRPr/>
          </a:p>
          <a:p>
            <a:pPr indent="0" lvl="0" marL="0" rtl="0" algn="l">
              <a:spcBef>
                <a:spcPts val="0"/>
              </a:spcBef>
              <a:spcAft>
                <a:spcPts val="0"/>
              </a:spcAft>
              <a:buNone/>
            </a:pPr>
            <a:r>
              <a:t/>
            </a:r>
            <a:endParaRPr/>
          </a:p>
        </p:txBody>
      </p:sp>
      <p:sp>
        <p:nvSpPr>
          <p:cNvPr id="85" name="Google Shape;85;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317182" lvl="0" marL="457200" rtl="0" algn="l">
              <a:spcBef>
                <a:spcPts val="0"/>
              </a:spcBef>
              <a:spcAft>
                <a:spcPts val="0"/>
              </a:spcAft>
              <a:buSzPct val="100000"/>
              <a:buChar char="●"/>
            </a:pPr>
            <a:r>
              <a:rPr lang="en-GB"/>
              <a:t>Input Layer: Accepts image data (e.g., 28x28x1 for grayscale).</a:t>
            </a:r>
            <a:endParaRPr/>
          </a:p>
          <a:p>
            <a:pPr indent="-317182" lvl="0" marL="457200" rtl="0" algn="l">
              <a:spcBef>
                <a:spcPts val="1000"/>
              </a:spcBef>
              <a:spcAft>
                <a:spcPts val="0"/>
              </a:spcAft>
              <a:buSzPct val="100000"/>
              <a:buChar char="●"/>
            </a:pPr>
            <a:r>
              <a:rPr lang="en-GB"/>
              <a:t>Convolutional Layer(s): Applies filters to extract features.</a:t>
            </a:r>
            <a:endParaRPr/>
          </a:p>
          <a:p>
            <a:pPr indent="-317182" lvl="0" marL="457200" rtl="0" algn="l">
              <a:spcBef>
                <a:spcPts val="1000"/>
              </a:spcBef>
              <a:spcAft>
                <a:spcPts val="0"/>
              </a:spcAft>
              <a:buSzPct val="100000"/>
              <a:buChar char="●"/>
            </a:pPr>
            <a:r>
              <a:rPr lang="en-GB"/>
              <a:t>Pooling Layer: Reduces dimensionality and computation.</a:t>
            </a:r>
            <a:endParaRPr/>
          </a:p>
          <a:p>
            <a:pPr indent="-317182" lvl="0" marL="457200" rtl="0" algn="l">
              <a:spcBef>
                <a:spcPts val="1000"/>
              </a:spcBef>
              <a:spcAft>
                <a:spcPts val="0"/>
              </a:spcAft>
              <a:buSzPct val="100000"/>
              <a:buChar char="●"/>
            </a:pPr>
            <a:r>
              <a:rPr lang="en-GB"/>
              <a:t>Fully Connected Layer: Acts as a traditional neural network.</a:t>
            </a:r>
            <a:endParaRPr/>
          </a:p>
          <a:p>
            <a:pPr indent="-317182" lvl="0" marL="457200" rtl="0" algn="l">
              <a:spcBef>
                <a:spcPts val="1000"/>
              </a:spcBef>
              <a:spcAft>
                <a:spcPts val="0"/>
              </a:spcAft>
              <a:buSzPct val="100000"/>
              <a:buChar char="●"/>
            </a:pPr>
            <a:r>
              <a:rPr lang="en-GB"/>
              <a:t>Output Layer: Uses softmax or sigmoid for classification.</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86" name="Google Shape;86;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87" name="Google Shape;87;p17"/>
          <p:cNvPicPr preferRelativeResize="0"/>
          <p:nvPr/>
        </p:nvPicPr>
        <p:blipFill>
          <a:blip r:embed="rId3">
            <a:alphaModFix/>
          </a:blip>
          <a:stretch>
            <a:fillRect/>
          </a:stretch>
        </p:blipFill>
        <p:spPr>
          <a:xfrm>
            <a:off x="804400" y="2959625"/>
            <a:ext cx="7535200" cy="1883800"/>
          </a:xfrm>
          <a:prstGeom prst="rect">
            <a:avLst/>
          </a:prstGeom>
          <a:noFill/>
          <a:ln>
            <a:noFill/>
          </a:ln>
        </p:spPr>
      </p:pic>
      <p:sp>
        <p:nvSpPr>
          <p:cNvPr id="88" name="Google Shape;88;p17"/>
          <p:cNvSpPr txBox="1"/>
          <p:nvPr/>
        </p:nvSpPr>
        <p:spPr>
          <a:xfrm>
            <a:off x="0" y="4914900"/>
            <a:ext cx="4389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chemeClr val="dk2"/>
                </a:solidFill>
              </a:rPr>
              <a:t>https://stanford.edu/~shervine/teaching/cs-230/cheatsheet-convolutional-neural-networks</a:t>
            </a:r>
            <a:endParaRPr sz="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3.0 Convolutional Layers</a:t>
            </a:r>
            <a:endParaRPr/>
          </a:p>
          <a:p>
            <a:pPr indent="0" lvl="0" marL="0" rtl="0" algn="l">
              <a:spcBef>
                <a:spcPts val="0"/>
              </a:spcBef>
              <a:spcAft>
                <a:spcPts val="0"/>
              </a:spcAft>
              <a:buNone/>
            </a:pPr>
            <a:r>
              <a:t/>
            </a:r>
            <a:endParaRPr/>
          </a:p>
        </p:txBody>
      </p:sp>
      <p:sp>
        <p:nvSpPr>
          <p:cNvPr id="94" name="Google Shape;94;p18"/>
          <p:cNvSpPr txBox="1"/>
          <p:nvPr>
            <p:ph idx="1" type="body"/>
          </p:nvPr>
        </p:nvSpPr>
        <p:spPr>
          <a:xfrm>
            <a:off x="311700" y="1152475"/>
            <a:ext cx="8520600" cy="3602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b="1" lang="en-GB"/>
              <a:t>Convolution Layers</a:t>
            </a:r>
            <a:r>
              <a:rPr lang="en-GB"/>
              <a:t> are the fundamental building blocks of CNNs. </a:t>
            </a:r>
            <a:endParaRPr/>
          </a:p>
          <a:p>
            <a:pPr indent="-334327" lvl="0" marL="457200" rtl="0" algn="l">
              <a:spcBef>
                <a:spcPts val="1000"/>
              </a:spcBef>
              <a:spcAft>
                <a:spcPts val="0"/>
              </a:spcAft>
              <a:buSzPct val="100000"/>
              <a:buChar char="●"/>
            </a:pPr>
            <a:r>
              <a:rPr lang="en-GB"/>
              <a:t>These layers perform a critical mathematical operation known as </a:t>
            </a:r>
            <a:r>
              <a:rPr b="1" lang="en-GB">
                <a:solidFill>
                  <a:srgbClr val="85200C"/>
                </a:solidFill>
              </a:rPr>
              <a:t>convolution</a:t>
            </a:r>
            <a:r>
              <a:rPr lang="en-GB"/>
              <a:t>.</a:t>
            </a:r>
            <a:endParaRPr/>
          </a:p>
          <a:p>
            <a:pPr indent="-334327" lvl="0" marL="457200" rtl="0" algn="l">
              <a:spcBef>
                <a:spcPts val="1000"/>
              </a:spcBef>
              <a:spcAft>
                <a:spcPts val="0"/>
              </a:spcAft>
              <a:buSzPct val="100000"/>
              <a:buChar char="●"/>
            </a:pPr>
            <a:r>
              <a:rPr lang="en-GB"/>
              <a:t>Convolution uses specialized </a:t>
            </a:r>
            <a:r>
              <a:rPr b="1" lang="en-GB"/>
              <a:t>filters</a:t>
            </a:r>
            <a:r>
              <a:rPr lang="en-GB"/>
              <a:t> known as </a:t>
            </a:r>
            <a:r>
              <a:rPr b="1" lang="en-GB"/>
              <a:t>kernels</a:t>
            </a:r>
            <a:r>
              <a:rPr lang="en-GB"/>
              <a:t>, that traverse through the input image to learn complex visual patterns.</a:t>
            </a:r>
            <a:endParaRPr/>
          </a:p>
          <a:p>
            <a:pPr indent="-334327" lvl="0" marL="457200" rtl="0" algn="l">
              <a:spcBef>
                <a:spcPts val="1000"/>
              </a:spcBef>
              <a:spcAft>
                <a:spcPts val="0"/>
              </a:spcAft>
              <a:buSzPct val="100000"/>
              <a:buChar char="●"/>
            </a:pPr>
            <a:r>
              <a:rPr lang="en-GB"/>
              <a:t>The main objective of Convolutional Layers is </a:t>
            </a:r>
            <a:r>
              <a:rPr b="1" lang="en-GB"/>
              <a:t>Feature Extraction</a:t>
            </a:r>
            <a:r>
              <a:rPr lang="en-GB"/>
              <a:t>.</a:t>
            </a:r>
            <a:endParaRPr/>
          </a:p>
          <a:p>
            <a:pPr indent="-334327" lvl="0" marL="457200" rtl="0" algn="l">
              <a:spcBef>
                <a:spcPts val="1000"/>
              </a:spcBef>
              <a:spcAft>
                <a:spcPts val="0"/>
              </a:spcAft>
              <a:buSzPct val="100000"/>
              <a:buChar char="●"/>
            </a:pPr>
            <a:r>
              <a:rPr lang="en-GB"/>
              <a:t>After every convolution operation, non-linearities is introduced using </a:t>
            </a:r>
            <a:r>
              <a:rPr b="1" lang="en-GB"/>
              <a:t>ReLU</a:t>
            </a:r>
            <a:r>
              <a:rPr lang="en-GB"/>
              <a:t> activation function.</a:t>
            </a:r>
            <a:endParaRPr/>
          </a:p>
          <a:p>
            <a:pPr indent="-334327" lvl="0" marL="457200" rtl="0" algn="l">
              <a:spcBef>
                <a:spcPts val="1000"/>
              </a:spcBef>
              <a:spcAft>
                <a:spcPts val="0"/>
              </a:spcAft>
              <a:buSzPct val="100000"/>
              <a:buChar char="●"/>
            </a:pPr>
            <a:r>
              <a:rPr b="1" lang="en-GB"/>
              <a:t>Kernels</a:t>
            </a:r>
            <a:endParaRPr b="1"/>
          </a:p>
          <a:p>
            <a:pPr indent="-310832" lvl="1" marL="914400" rtl="0" algn="l">
              <a:spcBef>
                <a:spcPts val="1000"/>
              </a:spcBef>
              <a:spcAft>
                <a:spcPts val="1000"/>
              </a:spcAft>
              <a:buSzPct val="100000"/>
              <a:buChar char="○"/>
            </a:pPr>
            <a:r>
              <a:rPr lang="en-GB"/>
              <a:t>Kernels are small matrices of numbers that move across the image performing </a:t>
            </a:r>
            <a:r>
              <a:rPr b="1" lang="en-GB"/>
              <a:t>element-wise multiplication</a:t>
            </a:r>
            <a:r>
              <a:rPr lang="en-GB"/>
              <a:t> with the part of the image they cover </a:t>
            </a:r>
            <a:r>
              <a:rPr b="1" lang="en-GB"/>
              <a:t>and add the result</a:t>
            </a:r>
            <a:r>
              <a:rPr lang="en-GB"/>
              <a:t>, extracting features such as edges, textures, and shapes.</a:t>
            </a:r>
            <a:endParaRPr/>
          </a:p>
        </p:txBody>
      </p:sp>
      <p:sp>
        <p:nvSpPr>
          <p:cNvPr id="95" name="Google Shape;95;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3.0 Convolution Operations</a:t>
            </a:r>
            <a:endParaRPr/>
          </a:p>
          <a:p>
            <a:pPr indent="0" lvl="0" marL="0" rtl="0" algn="l">
              <a:spcBef>
                <a:spcPts val="0"/>
              </a:spcBef>
              <a:spcAft>
                <a:spcPts val="0"/>
              </a:spcAft>
              <a:buNone/>
            </a:pPr>
            <a:r>
              <a:t/>
            </a:r>
            <a:endParaRPr/>
          </a:p>
        </p:txBody>
      </p:sp>
      <p:sp>
        <p:nvSpPr>
          <p:cNvPr id="101" name="Google Shape;10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The sliding kernel will detect features from the input image and produces the convolved output.</a:t>
            </a:r>
            <a:endParaRPr/>
          </a:p>
          <a:p>
            <a:pPr indent="-342900" lvl="0" marL="457200" rtl="0" algn="l">
              <a:spcBef>
                <a:spcPts val="1000"/>
              </a:spcBef>
              <a:spcAft>
                <a:spcPts val="0"/>
              </a:spcAft>
              <a:buSzPts val="1800"/>
              <a:buChar char="●"/>
            </a:pPr>
            <a:r>
              <a:rPr lang="en-GB"/>
              <a:t>The output of the convolution operation is called </a:t>
            </a:r>
            <a:r>
              <a:rPr b="1" lang="en-GB">
                <a:solidFill>
                  <a:srgbClr val="85200C"/>
                </a:solidFill>
              </a:rPr>
              <a:t>Feature Map</a:t>
            </a:r>
            <a:r>
              <a:rPr lang="en-GB"/>
              <a:t> and kernel itself is also known as </a:t>
            </a:r>
            <a:r>
              <a:rPr b="1" lang="en-GB">
                <a:solidFill>
                  <a:srgbClr val="85200C"/>
                </a:solidFill>
              </a:rPr>
              <a:t>Feature Detector</a:t>
            </a:r>
            <a:r>
              <a:rPr lang="en-GB"/>
              <a:t>.</a:t>
            </a:r>
            <a:endParaRPr/>
          </a:p>
          <a:p>
            <a:pPr indent="0" lvl="0" marL="0" rtl="0" algn="l">
              <a:spcBef>
                <a:spcPts val="1000"/>
              </a:spcBef>
              <a:spcAft>
                <a:spcPts val="1000"/>
              </a:spcAft>
              <a:buNone/>
            </a:pPr>
            <a:r>
              <a:t/>
            </a:r>
            <a:endParaRPr/>
          </a:p>
        </p:txBody>
      </p:sp>
      <p:sp>
        <p:nvSpPr>
          <p:cNvPr id="102" name="Google Shape;10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03" name="Google Shape;103;p19"/>
          <p:cNvPicPr preferRelativeResize="0"/>
          <p:nvPr/>
        </p:nvPicPr>
        <p:blipFill>
          <a:blip r:embed="rId3">
            <a:alphaModFix/>
          </a:blip>
          <a:stretch>
            <a:fillRect/>
          </a:stretch>
        </p:blipFill>
        <p:spPr>
          <a:xfrm>
            <a:off x="1060163" y="2855563"/>
            <a:ext cx="3457575" cy="1323975"/>
          </a:xfrm>
          <a:prstGeom prst="rect">
            <a:avLst/>
          </a:prstGeom>
          <a:noFill/>
          <a:ln>
            <a:noFill/>
          </a:ln>
        </p:spPr>
      </p:pic>
      <p:pic>
        <p:nvPicPr>
          <p:cNvPr id="104" name="Google Shape;104;p19"/>
          <p:cNvPicPr preferRelativeResize="0"/>
          <p:nvPr/>
        </p:nvPicPr>
        <p:blipFill>
          <a:blip r:embed="rId4">
            <a:alphaModFix/>
          </a:blip>
          <a:stretch>
            <a:fillRect/>
          </a:stretch>
        </p:blipFill>
        <p:spPr>
          <a:xfrm>
            <a:off x="5310651" y="2497526"/>
            <a:ext cx="1350479" cy="2040075"/>
          </a:xfrm>
          <a:prstGeom prst="rect">
            <a:avLst/>
          </a:prstGeom>
          <a:noFill/>
          <a:ln>
            <a:noFill/>
          </a:ln>
        </p:spPr>
      </p:pic>
      <p:pic>
        <p:nvPicPr>
          <p:cNvPr id="105" name="Google Shape;105;p19"/>
          <p:cNvPicPr preferRelativeResize="0"/>
          <p:nvPr/>
        </p:nvPicPr>
        <p:blipFill>
          <a:blip r:embed="rId5">
            <a:alphaModFix/>
          </a:blip>
          <a:stretch>
            <a:fillRect/>
          </a:stretch>
        </p:blipFill>
        <p:spPr>
          <a:xfrm>
            <a:off x="7187320" y="2497525"/>
            <a:ext cx="1378275" cy="20400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3.1 Convolution Operations: Strides</a:t>
            </a:r>
            <a:endParaRPr/>
          </a:p>
          <a:p>
            <a:pPr indent="0" lvl="0" marL="0" rtl="0" algn="l">
              <a:spcBef>
                <a:spcPts val="0"/>
              </a:spcBef>
              <a:spcAft>
                <a:spcPts val="0"/>
              </a:spcAft>
              <a:buNone/>
            </a:pPr>
            <a:r>
              <a:t/>
            </a:r>
            <a:endParaRPr/>
          </a:p>
        </p:txBody>
      </p:sp>
      <p:sp>
        <p:nvSpPr>
          <p:cNvPr id="111" name="Google Shape;111;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I</a:t>
            </a:r>
            <a:r>
              <a:rPr lang="en-GB"/>
              <a:t>n a convolution a kernel slides through the pixels of an image.</a:t>
            </a:r>
            <a:endParaRPr/>
          </a:p>
          <a:p>
            <a:pPr indent="-342900" lvl="0" marL="457200" rtl="0" algn="l">
              <a:spcBef>
                <a:spcPts val="1000"/>
              </a:spcBef>
              <a:spcAft>
                <a:spcPts val="0"/>
              </a:spcAft>
              <a:buSzPts val="1800"/>
              <a:buChar char="●"/>
            </a:pPr>
            <a:r>
              <a:rPr lang="en-GB"/>
              <a:t>Stride refers to the number of pixels by which a kernel moves across the input image.</a:t>
            </a:r>
            <a:endParaRPr/>
          </a:p>
          <a:p>
            <a:pPr indent="0" lvl="0" marL="0" rtl="0" algn="l">
              <a:spcBef>
                <a:spcPts val="1000"/>
              </a:spcBef>
              <a:spcAft>
                <a:spcPts val="1000"/>
              </a:spcAft>
              <a:buNone/>
            </a:pPr>
            <a:r>
              <a:t/>
            </a:r>
            <a:endParaRPr/>
          </a:p>
        </p:txBody>
      </p:sp>
      <p:sp>
        <p:nvSpPr>
          <p:cNvPr id="112" name="Google Shape;112;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13" name="Google Shape;113;p20"/>
          <p:cNvPicPr preferRelativeResize="0"/>
          <p:nvPr/>
        </p:nvPicPr>
        <p:blipFill>
          <a:blip r:embed="rId3">
            <a:alphaModFix/>
          </a:blip>
          <a:stretch>
            <a:fillRect/>
          </a:stretch>
        </p:blipFill>
        <p:spPr>
          <a:xfrm>
            <a:off x="0" y="2679325"/>
            <a:ext cx="4511050" cy="19839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3.1 Convolution Operations: Strides</a:t>
            </a:r>
            <a:endParaRPr/>
          </a:p>
          <a:p>
            <a:pPr indent="0" lvl="0" marL="0" rtl="0" algn="l">
              <a:spcBef>
                <a:spcPts val="0"/>
              </a:spcBef>
              <a:spcAft>
                <a:spcPts val="0"/>
              </a:spcAft>
              <a:buNone/>
            </a:pPr>
            <a:r>
              <a:t/>
            </a:r>
            <a:endParaRPr/>
          </a:p>
        </p:txBody>
      </p:sp>
      <p:sp>
        <p:nvSpPr>
          <p:cNvPr id="119" name="Google Shape;119;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In a convolution a kernel slides through the pixels of an image.</a:t>
            </a:r>
            <a:endParaRPr/>
          </a:p>
          <a:p>
            <a:pPr indent="-342900" lvl="0" marL="457200" rtl="0" algn="l">
              <a:spcBef>
                <a:spcPts val="1000"/>
              </a:spcBef>
              <a:spcAft>
                <a:spcPts val="0"/>
              </a:spcAft>
              <a:buSzPts val="1800"/>
              <a:buChar char="●"/>
            </a:pPr>
            <a:r>
              <a:rPr lang="en-GB"/>
              <a:t>Stride refers to the number of pixels by which a kernel moves across the input image.</a:t>
            </a:r>
            <a:endParaRPr/>
          </a:p>
          <a:p>
            <a:pPr indent="0" lvl="0" marL="0" rtl="0" algn="l">
              <a:spcBef>
                <a:spcPts val="1000"/>
              </a:spcBef>
              <a:spcAft>
                <a:spcPts val="1000"/>
              </a:spcAft>
              <a:buNone/>
            </a:pPr>
            <a:r>
              <a:t/>
            </a:r>
            <a:endParaRPr/>
          </a:p>
        </p:txBody>
      </p:sp>
      <p:sp>
        <p:nvSpPr>
          <p:cNvPr id="120" name="Google Shape;120;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21" name="Google Shape;121;p21"/>
          <p:cNvPicPr preferRelativeResize="0"/>
          <p:nvPr/>
        </p:nvPicPr>
        <p:blipFill>
          <a:blip r:embed="rId3">
            <a:alphaModFix/>
          </a:blip>
          <a:stretch>
            <a:fillRect/>
          </a:stretch>
        </p:blipFill>
        <p:spPr>
          <a:xfrm>
            <a:off x="0" y="2679325"/>
            <a:ext cx="4511050" cy="1983900"/>
          </a:xfrm>
          <a:prstGeom prst="rect">
            <a:avLst/>
          </a:prstGeom>
          <a:noFill/>
          <a:ln cap="flat" cmpd="sng" w="9525">
            <a:solidFill>
              <a:schemeClr val="dk2"/>
            </a:solidFill>
            <a:prstDash val="solid"/>
            <a:round/>
            <a:headEnd len="sm" w="sm" type="none"/>
            <a:tailEnd len="sm" w="sm" type="none"/>
          </a:ln>
        </p:spPr>
      </p:pic>
      <p:pic>
        <p:nvPicPr>
          <p:cNvPr id="122" name="Google Shape;122;p21"/>
          <p:cNvPicPr preferRelativeResize="0"/>
          <p:nvPr/>
        </p:nvPicPr>
        <p:blipFill>
          <a:blip r:embed="rId4">
            <a:alphaModFix/>
          </a:blip>
          <a:stretch>
            <a:fillRect/>
          </a:stretch>
        </p:blipFill>
        <p:spPr>
          <a:xfrm>
            <a:off x="4632950" y="2679354"/>
            <a:ext cx="4511050" cy="1983872"/>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3.1 Convolution Operations: Strides</a:t>
            </a:r>
            <a:endParaRPr/>
          </a:p>
          <a:p>
            <a:pPr indent="0" lvl="0" marL="0" rtl="0" algn="l">
              <a:spcBef>
                <a:spcPts val="0"/>
              </a:spcBef>
              <a:spcAft>
                <a:spcPts val="0"/>
              </a:spcAft>
              <a:buNone/>
            </a:pPr>
            <a:r>
              <a:t/>
            </a:r>
            <a:endParaRPr/>
          </a:p>
        </p:txBody>
      </p:sp>
      <p:sp>
        <p:nvSpPr>
          <p:cNvPr id="128" name="Google Shape;128;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In a convolution a kernel slides through the pixels of an image.</a:t>
            </a:r>
            <a:endParaRPr/>
          </a:p>
          <a:p>
            <a:pPr indent="-342900" lvl="0" marL="457200" rtl="0" algn="l">
              <a:spcBef>
                <a:spcPts val="1000"/>
              </a:spcBef>
              <a:spcAft>
                <a:spcPts val="0"/>
              </a:spcAft>
              <a:buSzPts val="1800"/>
              <a:buChar char="●"/>
            </a:pPr>
            <a:r>
              <a:rPr lang="en-GB"/>
              <a:t>Stride refers to the number of pixels by which a kernel moves across the input image.</a:t>
            </a:r>
            <a:endParaRPr/>
          </a:p>
          <a:p>
            <a:pPr indent="0" lvl="0" marL="0" rtl="0" algn="l">
              <a:spcBef>
                <a:spcPts val="1000"/>
              </a:spcBef>
              <a:spcAft>
                <a:spcPts val="1000"/>
              </a:spcAft>
              <a:buNone/>
            </a:pPr>
            <a:r>
              <a:t/>
            </a:r>
            <a:endParaRPr/>
          </a:p>
        </p:txBody>
      </p:sp>
      <p:sp>
        <p:nvSpPr>
          <p:cNvPr id="129" name="Google Shape;129;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30" name="Google Shape;130;p22"/>
          <p:cNvPicPr preferRelativeResize="0"/>
          <p:nvPr/>
        </p:nvPicPr>
        <p:blipFill>
          <a:blip r:embed="rId3">
            <a:alphaModFix/>
          </a:blip>
          <a:stretch>
            <a:fillRect/>
          </a:stretch>
        </p:blipFill>
        <p:spPr>
          <a:xfrm>
            <a:off x="0" y="2679325"/>
            <a:ext cx="4511050" cy="1983900"/>
          </a:xfrm>
          <a:prstGeom prst="rect">
            <a:avLst/>
          </a:prstGeom>
          <a:noFill/>
          <a:ln cap="flat" cmpd="sng" w="9525">
            <a:solidFill>
              <a:schemeClr val="dk2"/>
            </a:solidFill>
            <a:prstDash val="solid"/>
            <a:round/>
            <a:headEnd len="sm" w="sm" type="none"/>
            <a:tailEnd len="sm" w="sm" type="none"/>
          </a:ln>
        </p:spPr>
      </p:pic>
      <p:pic>
        <p:nvPicPr>
          <p:cNvPr id="131" name="Google Shape;131;p22"/>
          <p:cNvPicPr preferRelativeResize="0"/>
          <p:nvPr/>
        </p:nvPicPr>
        <p:blipFill>
          <a:blip r:embed="rId4">
            <a:alphaModFix/>
          </a:blip>
          <a:stretch>
            <a:fillRect/>
          </a:stretch>
        </p:blipFill>
        <p:spPr>
          <a:xfrm>
            <a:off x="4632936" y="2679326"/>
            <a:ext cx="4511065" cy="19839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3.2 Convolution Operations: Padding</a:t>
            </a:r>
            <a:endParaRPr/>
          </a:p>
          <a:p>
            <a:pPr indent="0" lvl="0" marL="0" rtl="0" algn="l">
              <a:spcBef>
                <a:spcPts val="0"/>
              </a:spcBef>
              <a:spcAft>
                <a:spcPts val="0"/>
              </a:spcAft>
              <a:buNone/>
            </a:pPr>
            <a:r>
              <a:t/>
            </a:r>
            <a:endParaRPr/>
          </a:p>
        </p:txBody>
      </p:sp>
      <p:sp>
        <p:nvSpPr>
          <p:cNvPr id="137" name="Google Shape;137;p23"/>
          <p:cNvSpPr txBox="1"/>
          <p:nvPr>
            <p:ph idx="1" type="body"/>
          </p:nvPr>
        </p:nvSpPr>
        <p:spPr>
          <a:xfrm>
            <a:off x="311700" y="1152475"/>
            <a:ext cx="42984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GB"/>
              <a:t>Padding refers to the addition of extra pixels around the edge of the input image.</a:t>
            </a:r>
            <a:endParaRPr/>
          </a:p>
          <a:p>
            <a:pPr indent="-342900" lvl="0" marL="457200" rtl="0" algn="l">
              <a:spcBef>
                <a:spcPts val="1000"/>
              </a:spcBef>
              <a:spcAft>
                <a:spcPts val="0"/>
              </a:spcAft>
              <a:buSzPts val="1800"/>
              <a:buChar char="●"/>
            </a:pPr>
            <a:r>
              <a:rPr lang="en-GB"/>
              <a:t>Why do we need padding?</a:t>
            </a:r>
            <a:endParaRPr/>
          </a:p>
          <a:p>
            <a:pPr indent="-317500" lvl="1" marL="914400" rtl="0" algn="l">
              <a:spcBef>
                <a:spcPts val="1000"/>
              </a:spcBef>
              <a:spcAft>
                <a:spcPts val="0"/>
              </a:spcAft>
              <a:buSzPts val="1400"/>
              <a:buChar char="○"/>
            </a:pPr>
            <a:r>
              <a:rPr lang="en-GB"/>
              <a:t>It allows us to use a CONV layer without necessarily shrinking the height and width of the image or feature maps.</a:t>
            </a:r>
            <a:endParaRPr/>
          </a:p>
          <a:p>
            <a:pPr indent="-317500" lvl="1" marL="914400" rtl="0" algn="l">
              <a:spcBef>
                <a:spcPts val="1000"/>
              </a:spcBef>
              <a:spcAft>
                <a:spcPts val="1000"/>
              </a:spcAft>
              <a:buSzPts val="1400"/>
              <a:buChar char="○"/>
            </a:pPr>
            <a:r>
              <a:rPr lang="en-GB"/>
              <a:t>It helps us keep more of the information at the border of an image. Without padding, very few values at the next layer would be affected by pixels as the edges of an image.</a:t>
            </a:r>
            <a:endParaRPr/>
          </a:p>
        </p:txBody>
      </p:sp>
      <p:sp>
        <p:nvSpPr>
          <p:cNvPr id="138" name="Google Shape;138;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39" name="Google Shape;139;p23"/>
          <p:cNvPicPr preferRelativeResize="0"/>
          <p:nvPr/>
        </p:nvPicPr>
        <p:blipFill>
          <a:blip r:embed="rId3">
            <a:alphaModFix/>
          </a:blip>
          <a:stretch>
            <a:fillRect/>
          </a:stretch>
        </p:blipFill>
        <p:spPr>
          <a:xfrm>
            <a:off x="4653925" y="1843675"/>
            <a:ext cx="4490074" cy="2370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3.3 Convolution Operations in RGB Image</a:t>
            </a:r>
            <a:endParaRPr/>
          </a:p>
          <a:p>
            <a:pPr indent="0" lvl="0" marL="0" rtl="0" algn="l">
              <a:spcBef>
                <a:spcPts val="0"/>
              </a:spcBef>
              <a:spcAft>
                <a:spcPts val="0"/>
              </a:spcAft>
              <a:buNone/>
            </a:pPr>
            <a:r>
              <a:t/>
            </a:r>
            <a:endParaRPr/>
          </a:p>
        </p:txBody>
      </p:sp>
      <p:sp>
        <p:nvSpPr>
          <p:cNvPr id="145" name="Google Shape;145;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46" name="Google Shape;146;p24" title="unnamed.gif"/>
          <p:cNvPicPr preferRelativeResize="0"/>
          <p:nvPr/>
        </p:nvPicPr>
        <p:blipFill>
          <a:blip r:embed="rId3">
            <a:alphaModFix/>
          </a:blip>
          <a:stretch>
            <a:fillRect/>
          </a:stretch>
        </p:blipFill>
        <p:spPr>
          <a:xfrm>
            <a:off x="1045538" y="1091075"/>
            <a:ext cx="7052924" cy="39657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3.4 Convolution Operations: Feature Map Dimensions</a:t>
            </a:r>
            <a:endParaRPr/>
          </a:p>
          <a:p>
            <a:pPr indent="0" lvl="0" marL="0" rtl="0" algn="l">
              <a:spcBef>
                <a:spcPts val="0"/>
              </a:spcBef>
              <a:spcAft>
                <a:spcPts val="0"/>
              </a:spcAft>
              <a:buNone/>
            </a:pPr>
            <a:r>
              <a:t/>
            </a:r>
            <a:endParaRPr/>
          </a:p>
        </p:txBody>
      </p:sp>
      <p:sp>
        <p:nvSpPr>
          <p:cNvPr id="152" name="Google Shape;152;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53" name="Google Shape;153;p25"/>
          <p:cNvPicPr preferRelativeResize="0"/>
          <p:nvPr/>
        </p:nvPicPr>
        <p:blipFill>
          <a:blip r:embed="rId3">
            <a:alphaModFix/>
          </a:blip>
          <a:stretch>
            <a:fillRect/>
          </a:stretch>
        </p:blipFill>
        <p:spPr>
          <a:xfrm>
            <a:off x="1543050" y="1640200"/>
            <a:ext cx="6057900" cy="23050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3.5 Convolution Operations: Learnable Parameters</a:t>
            </a:r>
            <a:endParaRPr/>
          </a:p>
          <a:p>
            <a:pPr indent="0" lvl="0" marL="0" rtl="0" algn="l">
              <a:spcBef>
                <a:spcPts val="0"/>
              </a:spcBef>
              <a:spcAft>
                <a:spcPts val="0"/>
              </a:spcAft>
              <a:buNone/>
            </a:pPr>
            <a:r>
              <a:t/>
            </a:r>
            <a:endParaRPr/>
          </a:p>
        </p:txBody>
      </p:sp>
      <p:sp>
        <p:nvSpPr>
          <p:cNvPr id="159" name="Google Shape;159;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GB"/>
              <a:t>We u</a:t>
            </a:r>
            <a:r>
              <a:rPr lang="en-GB"/>
              <a:t>se multiple filters to extract different features.</a:t>
            </a:r>
            <a:endParaRPr/>
          </a:p>
          <a:p>
            <a:pPr indent="-342900" lvl="0" marL="457200" rtl="0" algn="l">
              <a:spcBef>
                <a:spcPts val="1000"/>
              </a:spcBef>
              <a:spcAft>
                <a:spcPts val="0"/>
              </a:spcAft>
              <a:buSzPts val="1800"/>
              <a:buChar char="●"/>
            </a:pPr>
            <a:r>
              <a:rPr b="1" lang="en-GB"/>
              <a:t>Learnable Parameters = </a:t>
            </a:r>
            <a:r>
              <a:rPr b="1" lang="en-GB">
                <a:solidFill>
                  <a:srgbClr val="85200C"/>
                </a:solidFill>
              </a:rPr>
              <a:t>(K×K×C) × N + N</a:t>
            </a:r>
            <a:endParaRPr b="1">
              <a:solidFill>
                <a:srgbClr val="85200C"/>
              </a:solidFill>
            </a:endParaRPr>
          </a:p>
          <a:p>
            <a:pPr indent="0" lvl="0" marL="0" rtl="0" algn="l">
              <a:spcBef>
                <a:spcPts val="1200"/>
              </a:spcBef>
              <a:spcAft>
                <a:spcPts val="0"/>
              </a:spcAft>
              <a:buNone/>
            </a:pPr>
            <a:r>
              <a:rPr lang="en-GB"/>
              <a:t>Where:</a:t>
            </a:r>
            <a:endParaRPr/>
          </a:p>
          <a:p>
            <a:pPr indent="-298450" lvl="0" marL="914400" rtl="0" algn="l">
              <a:spcBef>
                <a:spcPts val="1200"/>
              </a:spcBef>
              <a:spcAft>
                <a:spcPts val="0"/>
              </a:spcAft>
              <a:buClr>
                <a:schemeClr val="dk1"/>
              </a:buClr>
              <a:buSzPts val="1100"/>
              <a:buChar char="●"/>
            </a:pPr>
            <a:r>
              <a:rPr lang="en-GB"/>
              <a:t>K×K = kernel size (e.g., 3×3)</a:t>
            </a:r>
            <a:br>
              <a:rPr lang="en-GB"/>
            </a:br>
            <a:endParaRPr/>
          </a:p>
          <a:p>
            <a:pPr indent="-298450" lvl="0" marL="914400" rtl="0" algn="l">
              <a:spcBef>
                <a:spcPts val="0"/>
              </a:spcBef>
              <a:spcAft>
                <a:spcPts val="0"/>
              </a:spcAft>
              <a:buClr>
                <a:schemeClr val="dk1"/>
              </a:buClr>
              <a:buSzPts val="1100"/>
              <a:buChar char="●"/>
            </a:pPr>
            <a:r>
              <a:rPr lang="en-GB"/>
              <a:t>C = number of input channels (e.g., 3 for RGB)</a:t>
            </a:r>
            <a:br>
              <a:rPr lang="en-GB"/>
            </a:br>
            <a:endParaRPr/>
          </a:p>
          <a:p>
            <a:pPr indent="-298450" lvl="0" marL="914400" rtl="0" algn="l">
              <a:spcBef>
                <a:spcPts val="0"/>
              </a:spcBef>
              <a:spcAft>
                <a:spcPts val="0"/>
              </a:spcAft>
              <a:buClr>
                <a:schemeClr val="dk1"/>
              </a:buClr>
              <a:buSzPts val="1100"/>
              <a:buChar char="●"/>
            </a:pPr>
            <a:r>
              <a:rPr lang="en-GB"/>
              <a:t>N = number of filters (output channels)</a:t>
            </a:r>
            <a:endParaRPr/>
          </a:p>
          <a:p>
            <a:pPr indent="0" lvl="0" marL="0" rtl="0" algn="l">
              <a:spcBef>
                <a:spcPts val="1200"/>
              </a:spcBef>
              <a:spcAft>
                <a:spcPts val="1000"/>
              </a:spcAft>
              <a:buNone/>
            </a:pPr>
            <a:r>
              <a:t/>
            </a:r>
            <a:endParaRPr b="1">
              <a:solidFill>
                <a:srgbClr val="85200C"/>
              </a:solidFill>
            </a:endParaRPr>
          </a:p>
        </p:txBody>
      </p:sp>
      <p:sp>
        <p:nvSpPr>
          <p:cNvPr id="160" name="Google Shape;160;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3.6 Convolution Operations: Hierarchical Representations</a:t>
            </a:r>
            <a:endParaRPr/>
          </a:p>
          <a:p>
            <a:pPr indent="0" lvl="0" marL="0" rtl="0" algn="l">
              <a:spcBef>
                <a:spcPts val="0"/>
              </a:spcBef>
              <a:spcAft>
                <a:spcPts val="0"/>
              </a:spcAft>
              <a:buNone/>
            </a:pPr>
            <a:r>
              <a:t/>
            </a:r>
            <a:endParaRPr/>
          </a:p>
        </p:txBody>
      </p:sp>
      <p:sp>
        <p:nvSpPr>
          <p:cNvPr id="166" name="Google Shape;166;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67" name="Google Shape;167;p27"/>
          <p:cNvPicPr preferRelativeResize="0"/>
          <p:nvPr/>
        </p:nvPicPr>
        <p:blipFill>
          <a:blip r:embed="rId3">
            <a:alphaModFix/>
          </a:blip>
          <a:stretch>
            <a:fillRect/>
          </a:stretch>
        </p:blipFill>
        <p:spPr>
          <a:xfrm>
            <a:off x="488175" y="1132025"/>
            <a:ext cx="8167658" cy="379212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4.0 Pooling Layer</a:t>
            </a:r>
            <a:endParaRPr/>
          </a:p>
          <a:p>
            <a:pPr indent="0" lvl="0" marL="0" rtl="0" algn="l">
              <a:spcBef>
                <a:spcPts val="0"/>
              </a:spcBef>
              <a:spcAft>
                <a:spcPts val="0"/>
              </a:spcAft>
              <a:buNone/>
            </a:pPr>
            <a:r>
              <a:t/>
            </a:r>
            <a:endParaRPr/>
          </a:p>
        </p:txBody>
      </p:sp>
      <p:sp>
        <p:nvSpPr>
          <p:cNvPr id="173" name="Google Shape;173;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GB"/>
              <a:t>Pooling layer is used to reduce the size of the representations and to speed up calculations.</a:t>
            </a:r>
            <a:endParaRPr/>
          </a:p>
          <a:p>
            <a:pPr indent="-325755" lvl="0" marL="457200" rtl="0" algn="l">
              <a:spcBef>
                <a:spcPts val="1000"/>
              </a:spcBef>
              <a:spcAft>
                <a:spcPts val="0"/>
              </a:spcAft>
              <a:buSzPct val="100000"/>
              <a:buChar char="●"/>
            </a:pPr>
            <a:r>
              <a:rPr lang="en-GB"/>
              <a:t>It has hyper-parameters:</a:t>
            </a:r>
            <a:endParaRPr/>
          </a:p>
          <a:p>
            <a:pPr indent="-304165" lvl="1" marL="914400" rtl="0" algn="l">
              <a:spcBef>
                <a:spcPts val="1000"/>
              </a:spcBef>
              <a:spcAft>
                <a:spcPts val="0"/>
              </a:spcAft>
              <a:buSzPct val="100000"/>
              <a:buChar char="○"/>
            </a:pPr>
            <a:r>
              <a:rPr lang="en-GB"/>
              <a:t>size (f)</a:t>
            </a:r>
            <a:endParaRPr/>
          </a:p>
          <a:p>
            <a:pPr indent="-304165" lvl="1" marL="914400" rtl="0" algn="l">
              <a:spcBef>
                <a:spcPts val="1000"/>
              </a:spcBef>
              <a:spcAft>
                <a:spcPts val="0"/>
              </a:spcAft>
              <a:buSzPct val="100000"/>
              <a:buChar char="○"/>
            </a:pPr>
            <a:r>
              <a:rPr lang="en-GB"/>
              <a:t>stride (s)</a:t>
            </a:r>
            <a:endParaRPr/>
          </a:p>
          <a:p>
            <a:pPr indent="-304165" lvl="1" marL="914400" rtl="0" algn="l">
              <a:spcBef>
                <a:spcPts val="1000"/>
              </a:spcBef>
              <a:spcAft>
                <a:spcPts val="0"/>
              </a:spcAft>
              <a:buSzPct val="100000"/>
              <a:buChar char="○"/>
            </a:pPr>
            <a:r>
              <a:rPr lang="en-GB"/>
              <a:t>type (max or avg)</a:t>
            </a:r>
            <a:endParaRPr/>
          </a:p>
          <a:p>
            <a:pPr indent="-325755" lvl="0" marL="457200" rtl="0" algn="l">
              <a:spcBef>
                <a:spcPts val="1000"/>
              </a:spcBef>
              <a:spcAft>
                <a:spcPts val="0"/>
              </a:spcAft>
              <a:buSzPct val="100000"/>
              <a:buChar char="●"/>
            </a:pPr>
            <a:r>
              <a:rPr lang="en-GB"/>
              <a:t>But it doesn’t have parameter.</a:t>
            </a:r>
            <a:endParaRPr/>
          </a:p>
          <a:p>
            <a:pPr indent="-325755" lvl="0" marL="457200" rtl="0" algn="l">
              <a:spcBef>
                <a:spcPts val="1000"/>
              </a:spcBef>
              <a:spcAft>
                <a:spcPts val="0"/>
              </a:spcAft>
              <a:buSzPct val="100000"/>
              <a:buChar char="●"/>
            </a:pPr>
            <a:r>
              <a:rPr lang="en-GB"/>
              <a:t>Pooling brings</a:t>
            </a:r>
            <a:r>
              <a:rPr b="1" lang="en-GB"/>
              <a:t> </a:t>
            </a:r>
            <a:r>
              <a:rPr b="1" lang="en-GB"/>
              <a:t>positional </a:t>
            </a:r>
            <a:r>
              <a:rPr b="1" lang="en-GB"/>
              <a:t>i</a:t>
            </a:r>
            <a:r>
              <a:rPr b="1" lang="en-GB"/>
              <a:t>nvariance to small transformations. </a:t>
            </a:r>
            <a:r>
              <a:rPr lang="en-GB"/>
              <a:t>So, the model can still recognize a feature, even if it appears in a slightly different position in the image.</a:t>
            </a:r>
            <a:endParaRPr/>
          </a:p>
          <a:p>
            <a:pPr indent="-325755" lvl="0" marL="457200" rtl="0" algn="l">
              <a:spcBef>
                <a:spcPts val="1000"/>
              </a:spcBef>
              <a:spcAft>
                <a:spcPts val="1000"/>
              </a:spcAft>
              <a:buSzPct val="100000"/>
              <a:buChar char="●"/>
            </a:pPr>
            <a:r>
              <a:rPr lang="en-GB"/>
              <a:t>When done on input with multiple channels, pooling reduces the height and width but keeps number of channels unchanged.</a:t>
            </a:r>
            <a:endParaRPr/>
          </a:p>
        </p:txBody>
      </p:sp>
      <p:sp>
        <p:nvSpPr>
          <p:cNvPr id="174" name="Google Shape;174;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75" name="Google Shape;175;p28"/>
          <p:cNvPicPr preferRelativeResize="0"/>
          <p:nvPr/>
        </p:nvPicPr>
        <p:blipFill>
          <a:blip r:embed="rId3">
            <a:alphaModFix/>
          </a:blip>
          <a:stretch>
            <a:fillRect/>
          </a:stretch>
        </p:blipFill>
        <p:spPr>
          <a:xfrm>
            <a:off x="3962400" y="1661623"/>
            <a:ext cx="5150150" cy="1614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5.0 Fully Connected Layer</a:t>
            </a:r>
            <a:endParaRPr/>
          </a:p>
          <a:p>
            <a:pPr indent="0" lvl="0" marL="0" rtl="0" algn="l">
              <a:spcBef>
                <a:spcPts val="0"/>
              </a:spcBef>
              <a:spcAft>
                <a:spcPts val="0"/>
              </a:spcAft>
              <a:buNone/>
            </a:pPr>
            <a:r>
              <a:t/>
            </a:r>
            <a:endParaRPr/>
          </a:p>
        </p:txBody>
      </p:sp>
      <p:sp>
        <p:nvSpPr>
          <p:cNvPr id="181" name="Google Shape;181;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10000"/>
          </a:bodyPr>
          <a:lstStyle/>
          <a:p>
            <a:pPr indent="-317182" lvl="0" marL="457200" rtl="0" algn="l">
              <a:spcBef>
                <a:spcPts val="0"/>
              </a:spcBef>
              <a:spcAft>
                <a:spcPts val="0"/>
              </a:spcAft>
              <a:buSzPct val="100000"/>
              <a:buChar char="●"/>
            </a:pPr>
            <a:r>
              <a:rPr lang="en-GB"/>
              <a:t>After convolutional and pooling layers have extracted relevant features from the input image we have to turn this high-dimensional feature map into a format suitable for feeding into fully connected layers.</a:t>
            </a:r>
            <a:endParaRPr/>
          </a:p>
          <a:p>
            <a:pPr indent="-317182" lvl="0" marL="457200" rtl="0" algn="l">
              <a:spcBef>
                <a:spcPts val="1000"/>
              </a:spcBef>
              <a:spcAft>
                <a:spcPts val="0"/>
              </a:spcAft>
              <a:buSzPct val="100000"/>
              <a:buChar char="●"/>
            </a:pPr>
            <a:r>
              <a:rPr lang="en-GB"/>
              <a:t>Flattening Layer takes the entire feature map and reorganizes it into a single, long vector.</a:t>
            </a:r>
            <a:endParaRPr/>
          </a:p>
          <a:p>
            <a:pPr indent="-317182" lvl="0" marL="457200" rtl="0" algn="l">
              <a:spcBef>
                <a:spcPts val="1000"/>
              </a:spcBef>
              <a:spcAft>
                <a:spcPts val="0"/>
              </a:spcAft>
              <a:buSzPct val="100000"/>
              <a:buChar char="●"/>
            </a:pPr>
            <a:r>
              <a:rPr lang="en-GB"/>
              <a:t>Fully Connected Layer or Dense Layers are essential for integrating these features into predictions.</a:t>
            </a:r>
            <a:endParaRPr/>
          </a:p>
          <a:p>
            <a:pPr indent="-317182" lvl="0" marL="457200" rtl="0" algn="l">
              <a:spcBef>
                <a:spcPts val="1000"/>
              </a:spcBef>
              <a:spcAft>
                <a:spcPts val="0"/>
              </a:spcAft>
              <a:buSzPct val="100000"/>
              <a:buChar char="●"/>
            </a:pPr>
            <a:r>
              <a:rPr lang="en-GB"/>
              <a:t>Each neuron in hidden layer connected to all neurons in input layer.</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82" name="Google Shape;182;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83" name="Google Shape;183;p29"/>
          <p:cNvPicPr preferRelativeResize="0"/>
          <p:nvPr/>
        </p:nvPicPr>
        <p:blipFill rotWithShape="1">
          <a:blip r:embed="rId3">
            <a:alphaModFix/>
          </a:blip>
          <a:srcRect b="0" l="5925" r="9177" t="0"/>
          <a:stretch/>
        </p:blipFill>
        <p:spPr>
          <a:xfrm>
            <a:off x="838225" y="3070350"/>
            <a:ext cx="3383300" cy="1904075"/>
          </a:xfrm>
          <a:prstGeom prst="rect">
            <a:avLst/>
          </a:prstGeom>
          <a:noFill/>
          <a:ln>
            <a:noFill/>
          </a:ln>
        </p:spPr>
      </p:pic>
      <p:pic>
        <p:nvPicPr>
          <p:cNvPr id="184" name="Google Shape;184;p29"/>
          <p:cNvPicPr preferRelativeResize="0"/>
          <p:nvPr/>
        </p:nvPicPr>
        <p:blipFill>
          <a:blip r:embed="rId4">
            <a:alphaModFix/>
          </a:blip>
          <a:stretch>
            <a:fillRect/>
          </a:stretch>
        </p:blipFill>
        <p:spPr>
          <a:xfrm>
            <a:off x="5102013" y="2987975"/>
            <a:ext cx="3069035" cy="20688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6.0 Putting all Together-ConvNet: LeNet-5</a:t>
            </a:r>
            <a:endParaRPr/>
          </a:p>
          <a:p>
            <a:pPr indent="0" lvl="0" marL="0" rtl="0" algn="l">
              <a:spcBef>
                <a:spcPts val="0"/>
              </a:spcBef>
              <a:spcAft>
                <a:spcPts val="0"/>
              </a:spcAft>
              <a:buNone/>
            </a:pPr>
            <a:r>
              <a:t/>
            </a:r>
            <a:endParaRPr/>
          </a:p>
        </p:txBody>
      </p:sp>
      <p:sp>
        <p:nvSpPr>
          <p:cNvPr id="190" name="Google Shape;190;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91" name="Google Shape;191;p30"/>
          <p:cNvPicPr preferRelativeResize="0"/>
          <p:nvPr/>
        </p:nvPicPr>
        <p:blipFill>
          <a:blip r:embed="rId3">
            <a:alphaModFix/>
          </a:blip>
          <a:stretch>
            <a:fillRect/>
          </a:stretch>
        </p:blipFill>
        <p:spPr>
          <a:xfrm>
            <a:off x="792475" y="1466850"/>
            <a:ext cx="7362825" cy="2209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7.0 References</a:t>
            </a:r>
            <a:endParaRPr/>
          </a:p>
          <a:p>
            <a:pPr indent="0" lvl="0" marL="0" rtl="0" algn="l">
              <a:spcBef>
                <a:spcPts val="0"/>
              </a:spcBef>
              <a:spcAft>
                <a:spcPts val="0"/>
              </a:spcAft>
              <a:buNone/>
            </a:pPr>
            <a:r>
              <a:t/>
            </a:r>
            <a:endParaRPr/>
          </a:p>
        </p:txBody>
      </p:sp>
      <p:sp>
        <p:nvSpPr>
          <p:cNvPr id="197" name="Google Shape;197;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u="sng">
                <a:solidFill>
                  <a:schemeClr val="hlink"/>
                </a:solidFill>
                <a:hlinkClick r:id="rId3"/>
              </a:rPr>
              <a:t>https://stanford.edu/~shervine/teaching/cs-230</a:t>
            </a:r>
            <a:endParaRPr/>
          </a:p>
          <a:p>
            <a:pPr indent="-342900" lvl="0" marL="457200" rtl="0" algn="l">
              <a:spcBef>
                <a:spcPts val="1000"/>
              </a:spcBef>
              <a:spcAft>
                <a:spcPts val="0"/>
              </a:spcAft>
              <a:buSzPts val="1800"/>
              <a:buChar char="●"/>
            </a:pPr>
            <a:r>
              <a:rPr lang="en-GB" u="sng">
                <a:solidFill>
                  <a:schemeClr val="hlink"/>
                </a:solidFill>
                <a:hlinkClick r:id="rId4"/>
              </a:rPr>
              <a:t>https://mit6874.github.io</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457200" rtl="0" algn="l">
              <a:spcBef>
                <a:spcPts val="1000"/>
              </a:spcBef>
              <a:spcAft>
                <a:spcPts val="1000"/>
              </a:spcAft>
              <a:buNone/>
            </a:pPr>
            <a:r>
              <a:t/>
            </a:r>
            <a:endParaRPr/>
          </a:p>
        </p:txBody>
      </p:sp>
      <p:sp>
        <p:nvSpPr>
          <p:cNvPr id="198" name="Google Shape;198;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