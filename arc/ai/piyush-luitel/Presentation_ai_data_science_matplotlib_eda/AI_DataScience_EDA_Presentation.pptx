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2" r:id="rId10"/>
    <p:sldId id="268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2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19674"/>
            <a:ext cx="7772400" cy="1470025"/>
          </a:xfrm>
        </p:spPr>
        <p:txBody>
          <a:bodyPr/>
          <a:lstStyle/>
          <a:p>
            <a:r>
              <a:rPr dirty="0"/>
              <a:t>AI &amp; Data Science: </a:t>
            </a:r>
            <a:r>
              <a:rPr lang="en-US" dirty="0" smtClean="0"/>
              <a:t>Data Wrangling, Visualization</a:t>
            </a:r>
            <a:r>
              <a:rPr dirty="0" smtClean="0"/>
              <a:t> </a:t>
            </a:r>
            <a:r>
              <a:rPr dirty="0"/>
              <a:t>and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1440" y="4632960"/>
            <a:ext cx="467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Piyush Luitel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 and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Artificial Intelligence (AI): Simulation of human intelligence processes by machines, especially computer systems.</a:t>
            </a:r>
          </a:p>
          <a:p>
            <a:endParaRPr lang="en-US" dirty="0"/>
          </a:p>
          <a:p>
            <a:r>
              <a:rPr lang="en-US" dirty="0"/>
              <a:t>Data Science (DS): An interdisciplinary field that uses scientific methods, processes, algorithms, and systems to extract knowledge and insights from structured and unstructured data.</a:t>
            </a:r>
          </a:p>
          <a:p>
            <a:endParaRPr lang="en-US" dirty="0"/>
          </a:p>
          <a:p>
            <a:r>
              <a:rPr lang="en-US" dirty="0"/>
              <a:t>Big Data: Large and complex data sets that traditional data-processing software cannot manage effectively.</a:t>
            </a:r>
          </a:p>
          <a:p>
            <a:endParaRPr lang="en-US" dirty="0"/>
          </a:p>
          <a:p>
            <a:r>
              <a:rPr lang="en-US" dirty="0"/>
              <a:t>Applications: AI and DS are applied in various domains such as healthcare (predictive diagnostics), finance (fraud detection), marketing (customer segmentation), and transportation (autonomous vehicles).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2078"/>
            <a:ext cx="8229600" cy="1143000"/>
          </a:xfrm>
        </p:spPr>
        <p:txBody>
          <a:bodyPr/>
          <a:lstStyle/>
          <a:p>
            <a:r>
              <a:rPr dirty="0"/>
              <a:t>Data Wrangling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0920"/>
            <a:ext cx="8229600" cy="4525963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1200" dirty="0"/>
              <a:t>Definition: Also known as data munging, it involves cleaning, structuring, and enriching raw data into a desired format for better decision-making in less time.</a:t>
            </a:r>
          </a:p>
          <a:p>
            <a:pPr>
              <a:buFont typeface="+mj-lt"/>
              <a:buAutoNum type="arabicPeriod"/>
            </a:pP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Importance: Ensures data quality and consistency, making it suitable for analysis.</a:t>
            </a:r>
          </a:p>
          <a:p>
            <a:pPr>
              <a:buFont typeface="+mj-lt"/>
              <a:buAutoNum type="arabicPeriod"/>
            </a:pP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Primary Goals:</a:t>
            </a:r>
          </a:p>
          <a:p>
            <a:pPr>
              <a:buFont typeface="+mj-lt"/>
              <a:buAutoNum type="arabicPeriod"/>
            </a:pP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Ensure data quality and consistency.</a:t>
            </a:r>
          </a:p>
          <a:p>
            <a:pPr>
              <a:buFont typeface="+mj-lt"/>
              <a:buAutoNum type="arabicPeriod"/>
            </a:pP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Transform data into a usable format.</a:t>
            </a:r>
          </a:p>
          <a:p>
            <a:pPr>
              <a:buFont typeface="+mj-lt"/>
              <a:buAutoNum type="arabicPeriod"/>
            </a:pP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Handle missing values, outliers, and inconsistencies.</a:t>
            </a:r>
          </a:p>
          <a:p>
            <a:pPr>
              <a:buFont typeface="+mj-lt"/>
              <a:buAutoNum type="arabicPeriod"/>
            </a:pP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Integrate data from multiple sources.</a:t>
            </a:r>
          </a:p>
          <a:p>
            <a:pPr>
              <a:buFont typeface="+mj-lt"/>
              <a:buAutoNum type="arabicPeriod"/>
            </a:pP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Tools and Technologies:</a:t>
            </a:r>
          </a:p>
          <a:p>
            <a:pPr>
              <a:buFont typeface="+mj-lt"/>
              <a:buAutoNum type="arabicPeriod"/>
            </a:pP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Python Libraries: Pandas, </a:t>
            </a:r>
            <a:r>
              <a:rPr lang="en-US" sz="1200" dirty="0" err="1"/>
              <a:t>NumPy</a:t>
            </a:r>
            <a:r>
              <a:rPr lang="en-US" sz="1200" dirty="0"/>
              <a:t>, </a:t>
            </a:r>
            <a:r>
              <a:rPr lang="en-US" sz="1200" dirty="0" err="1"/>
              <a:t>SciPy</a:t>
            </a:r>
            <a:r>
              <a:rPr lang="en-US" sz="1200" dirty="0"/>
              <a:t>, </a:t>
            </a:r>
            <a:r>
              <a:rPr lang="en-US" sz="1200" dirty="0" err="1"/>
              <a:t>scikit</a:t>
            </a:r>
            <a:r>
              <a:rPr lang="en-US" sz="1200" dirty="0"/>
              <a:t>-learn</a:t>
            </a:r>
          </a:p>
          <a:p>
            <a:pPr>
              <a:buFont typeface="+mj-lt"/>
              <a:buAutoNum type="arabicPeriod"/>
            </a:pP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R Packages: </a:t>
            </a:r>
            <a:r>
              <a:rPr lang="en-US" sz="1200" dirty="0" err="1"/>
              <a:t>dplyr</a:t>
            </a:r>
            <a:r>
              <a:rPr lang="en-US" sz="1200" dirty="0"/>
              <a:t>, </a:t>
            </a:r>
            <a:r>
              <a:rPr lang="en-US" sz="1200" dirty="0" err="1"/>
              <a:t>tidyr</a:t>
            </a:r>
            <a:r>
              <a:rPr lang="en-US" sz="1200" dirty="0"/>
              <a:t>, </a:t>
            </a:r>
            <a:r>
              <a:rPr lang="en-US" sz="1200" dirty="0" err="1"/>
              <a:t>data.table</a:t>
            </a:r>
            <a:endParaRPr lang="en-US" sz="1200" dirty="0"/>
          </a:p>
          <a:p>
            <a:pPr>
              <a:buFont typeface="+mj-lt"/>
              <a:buAutoNum type="arabicPeriod"/>
            </a:pP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ETL Tools: Apache </a:t>
            </a:r>
            <a:r>
              <a:rPr lang="en-US" sz="1200" dirty="0" err="1"/>
              <a:t>NiFi</a:t>
            </a:r>
            <a:r>
              <a:rPr lang="en-US" sz="1200" dirty="0"/>
              <a:t>, </a:t>
            </a:r>
            <a:r>
              <a:rPr lang="en-US" sz="1200" dirty="0" err="1"/>
              <a:t>Talend</a:t>
            </a:r>
            <a:r>
              <a:rPr lang="en-US" sz="1200" dirty="0"/>
              <a:t>, </a:t>
            </a:r>
            <a:r>
              <a:rPr lang="en-US" sz="1200" dirty="0" err="1"/>
              <a:t>Alteryx</a:t>
            </a:r>
            <a:endParaRPr lang="en-US" sz="1200" dirty="0"/>
          </a:p>
          <a:p>
            <a:pPr>
              <a:buFont typeface="+mj-lt"/>
              <a:buAutoNum type="arabicPeriod"/>
            </a:pP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Note: This tutorial focuses on Python libraries.</a:t>
            </a:r>
          </a:p>
          <a:p>
            <a:pPr>
              <a:buFont typeface="+mj-lt"/>
              <a:buAutoNum type="arabicPeriod"/>
            </a:pP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Outcome: A clean, well-structured dataset ready for analysis.</a:t>
            </a:r>
            <a:endParaRPr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in Data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Discovery: Understanding and exploring the data to identify data sources, assess data quality, and gain insights into the structure and format.</a:t>
            </a:r>
          </a:p>
          <a:p>
            <a:endParaRPr lang="en-US" sz="1600" dirty="0"/>
          </a:p>
          <a:p>
            <a:r>
              <a:rPr lang="en-US" sz="1600" dirty="0"/>
              <a:t>Structuring: Organizing and formatting raw data to facilitate efficient analysis, including reshaping data, handling missing values, and converting data types.</a:t>
            </a:r>
          </a:p>
          <a:p>
            <a:endParaRPr lang="en-US" sz="1600" dirty="0"/>
          </a:p>
          <a:p>
            <a:r>
              <a:rPr lang="en-US" sz="1600" dirty="0"/>
              <a:t>Cleaning: Addressing inconsistencies, errors, and outliers by removing or correcting inaccurate data, handling duplicates, and addressing anomalies.</a:t>
            </a:r>
          </a:p>
          <a:p>
            <a:endParaRPr lang="en-US" sz="1600" dirty="0"/>
          </a:p>
          <a:p>
            <a:r>
              <a:rPr lang="en-US" sz="1600" dirty="0"/>
              <a:t>Enriching: Enhancing data with additional information to provide more context or depth, such as merging datasets or incorporating external data sources.</a:t>
            </a:r>
          </a:p>
          <a:p>
            <a:endParaRPr lang="en-US" sz="1600" dirty="0"/>
          </a:p>
          <a:p>
            <a:r>
              <a:rPr lang="en-US" sz="1600" dirty="0"/>
              <a:t>Validation: Ensuring the quality and reliability of processed data by checking for inconsistencies, verifying data integrity, and confirming adherence to predefined standards.</a:t>
            </a:r>
          </a:p>
          <a:p>
            <a:endParaRPr lang="en-US" sz="1600" dirty="0"/>
          </a:p>
          <a:p>
            <a:r>
              <a:rPr lang="en-US" sz="1600" dirty="0"/>
              <a:t>Publishing: Preparing the curated and validated dataset for analysis or dissemination, including documenting data lineage and sharing metadata.</a:t>
            </a:r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Handling </a:t>
            </a:r>
            <a:r>
              <a:rPr dirty="0" smtClean="0"/>
              <a:t>Missing Data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Imputation using Mean, Median, or Mode: Filling missing values with the mean, median, or mode of the available data.</a:t>
            </a:r>
          </a:p>
          <a:p>
            <a:endParaRPr lang="en-US" dirty="0"/>
          </a:p>
          <a:p>
            <a:r>
              <a:rPr lang="en-US" dirty="0"/>
              <a:t>Imputation using Predictive Models: Building a predictive model to estimate missing values based on other features.</a:t>
            </a:r>
          </a:p>
          <a:p>
            <a:endParaRPr lang="en-US" dirty="0"/>
          </a:p>
          <a:p>
            <a:r>
              <a:rPr lang="en-US" dirty="0"/>
              <a:t>Imputation using Group Statistics: Filling missing values using the mean or median of groups sharing similar characteristics.</a:t>
            </a:r>
          </a:p>
          <a:p>
            <a:endParaRPr lang="en-US" dirty="0"/>
          </a:p>
          <a:p>
            <a:r>
              <a:rPr lang="en-US" dirty="0"/>
              <a:t>Dropping Missing Values: Removing rows with missing values, especially if the number of missing values is large.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Handling </a:t>
            </a:r>
            <a:r>
              <a:rPr lang="en-US" dirty="0" smtClean="0"/>
              <a:t>Categorical and Numerical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Categorical Values: Variables representing categories, such as 'Sex', 'Embarked', and '</a:t>
            </a:r>
            <a:r>
              <a:rPr lang="en-US" dirty="0" err="1"/>
              <a:t>Pclass</a:t>
            </a:r>
            <a:r>
              <a:rPr lang="en-US" dirty="0"/>
              <a:t>' in the Titanic dataset.</a:t>
            </a:r>
          </a:p>
          <a:p>
            <a:endParaRPr lang="en-US" dirty="0"/>
          </a:p>
          <a:p>
            <a:r>
              <a:rPr lang="en-US" dirty="0"/>
              <a:t>Nominal Data: Categories without a specific order (e.g., Gender: male, female).</a:t>
            </a:r>
          </a:p>
          <a:p>
            <a:endParaRPr lang="en-US" dirty="0"/>
          </a:p>
          <a:p>
            <a:r>
              <a:rPr lang="en-US" dirty="0"/>
              <a:t>Ordinal Data: Categories with a meaningful order (e.g., Education Level: High School, Bachelor's, Master's, Doctorate).</a:t>
            </a:r>
          </a:p>
          <a:p>
            <a:endParaRPr lang="en-US" dirty="0"/>
          </a:p>
          <a:p>
            <a:r>
              <a:rPr lang="en-US" dirty="0"/>
              <a:t>Numeric Values: Variables representing numerical values, which can be discrete or continuous (e.g., 'Age', 'Fare').</a:t>
            </a:r>
          </a:p>
        </p:txBody>
      </p:sp>
    </p:spTree>
    <p:extLst>
      <p:ext uri="{BB962C8B-B14F-4D97-AF65-F5344CB8AC3E}">
        <p14:creationId xmlns:p14="http://schemas.microsoft.com/office/powerpoint/2010/main" val="263092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Encoding Categorical Values: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Label Encoding: Assigning a unique integer to each category, suitable for ordinal data.</a:t>
            </a:r>
          </a:p>
          <a:p>
            <a:endParaRPr lang="en-US" dirty="0"/>
          </a:p>
          <a:p>
            <a:r>
              <a:rPr lang="en-US" dirty="0"/>
              <a:t>One-Hot Encoding: Creating new columns indicating the presence or absence of each possible value, suitable for nominal </a:t>
            </a:r>
            <a:r>
              <a:rPr lang="en-US" dirty="0" smtClean="0"/>
              <a:t>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060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using Matplotlib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dirty="0"/>
          </a:p>
          <a:p>
            <a:r>
              <a:rPr lang="en-US" dirty="0"/>
              <a:t>Overview: </a:t>
            </a:r>
            <a:r>
              <a:rPr lang="en-US" dirty="0" err="1"/>
              <a:t>Matplotlib</a:t>
            </a:r>
            <a:r>
              <a:rPr lang="en-US" dirty="0"/>
              <a:t> is a comprehensive library for creating static, animated, and interactive visualizations in Python.</a:t>
            </a:r>
          </a:p>
          <a:p>
            <a:endParaRPr lang="en-US" dirty="0"/>
          </a:p>
          <a:p>
            <a:r>
              <a:rPr lang="en-US" dirty="0"/>
              <a:t>Common Plots:</a:t>
            </a:r>
          </a:p>
          <a:p>
            <a:endParaRPr lang="en-US" dirty="0"/>
          </a:p>
          <a:p>
            <a:r>
              <a:rPr lang="en-US" dirty="0"/>
              <a:t>Line Plot: Used to represent data points in a continuous line.</a:t>
            </a:r>
          </a:p>
          <a:p>
            <a:endParaRPr lang="en-US" dirty="0"/>
          </a:p>
          <a:p>
            <a:r>
              <a:rPr lang="en-US" dirty="0"/>
              <a:t>Bar Chart: Represents categorical data with rectangular bars.</a:t>
            </a:r>
          </a:p>
          <a:p>
            <a:endParaRPr lang="en-US" dirty="0"/>
          </a:p>
          <a:p>
            <a:r>
              <a:rPr lang="en-US" dirty="0"/>
              <a:t>Histogram: Displays the distribution of a dataset.</a:t>
            </a:r>
          </a:p>
          <a:p>
            <a:endParaRPr lang="en-US" dirty="0"/>
          </a:p>
          <a:p>
            <a:r>
              <a:rPr lang="en-US" dirty="0"/>
              <a:t>Scatter Plot: Shows relationships between two variables.</a:t>
            </a:r>
          </a:p>
          <a:p>
            <a:endParaRPr lang="en-US" dirty="0"/>
          </a:p>
          <a:p>
            <a:r>
              <a:rPr lang="en-US" dirty="0"/>
              <a:t>Box Plot: Displays the distribution of data based on five summary statistics.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Matplotlib: Sample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# A </a:t>
            </a:r>
            <a:r>
              <a:rPr lang="en-US" dirty="0" err="1"/>
              <a:t>matplotlib</a:t>
            </a:r>
            <a:r>
              <a:rPr lang="en-US" dirty="0"/>
              <a:t> workflow</a:t>
            </a:r>
          </a:p>
          <a:p>
            <a:endParaRPr lang="en-US" dirty="0"/>
          </a:p>
          <a:p>
            <a:r>
              <a:rPr lang="en-US" dirty="0" smtClean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endParaRPr lang="en-US" dirty="0"/>
          </a:p>
          <a:p>
            <a:r>
              <a:rPr lang="en-US" dirty="0"/>
              <a:t># 1. Prepare data</a:t>
            </a:r>
          </a:p>
          <a:p>
            <a:r>
              <a:rPr lang="en-US" dirty="0"/>
              <a:t>x = [1, 2, 3, 4]</a:t>
            </a:r>
          </a:p>
          <a:p>
            <a:r>
              <a:rPr lang="en-US" dirty="0"/>
              <a:t>y = [11, 22, 33, 44]</a:t>
            </a:r>
          </a:p>
          <a:p>
            <a:endParaRPr lang="en-US" dirty="0"/>
          </a:p>
          <a:p>
            <a:r>
              <a:rPr lang="en-US" dirty="0"/>
              <a:t># 2. Setup plot (Figure and Axes)</a:t>
            </a:r>
          </a:p>
          <a:p>
            <a:r>
              <a:rPr lang="en-US" dirty="0"/>
              <a:t>fig, ax = </a:t>
            </a:r>
            <a:r>
              <a:rPr lang="en-US" dirty="0" err="1"/>
              <a:t>plt.subplots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=(10,10))</a:t>
            </a:r>
          </a:p>
          <a:p>
            <a:endParaRPr lang="en-US" dirty="0"/>
          </a:p>
          <a:p>
            <a:r>
              <a:rPr lang="en-US" dirty="0"/>
              <a:t># 3. Plot data</a:t>
            </a:r>
          </a:p>
          <a:p>
            <a:r>
              <a:rPr lang="en-US" dirty="0" err="1"/>
              <a:t>ax.plot</a:t>
            </a:r>
            <a:r>
              <a:rPr lang="en-US" dirty="0"/>
              <a:t>(x, y)</a:t>
            </a:r>
          </a:p>
          <a:p>
            <a:endParaRPr lang="en-US" dirty="0"/>
          </a:p>
          <a:p>
            <a:r>
              <a:rPr lang="en-US" dirty="0"/>
              <a:t># 4. Customize plot</a:t>
            </a:r>
          </a:p>
          <a:p>
            <a:r>
              <a:rPr lang="en-US" dirty="0" err="1"/>
              <a:t>ax.set</a:t>
            </a:r>
            <a:r>
              <a:rPr lang="en-US" dirty="0"/>
              <a:t>(title="Sample Simple Plot", </a:t>
            </a:r>
            <a:r>
              <a:rPr lang="en-US" dirty="0" err="1"/>
              <a:t>xlabel</a:t>
            </a:r>
            <a:r>
              <a:rPr lang="en-US" dirty="0"/>
              <a:t>="x-axis", </a:t>
            </a:r>
            <a:r>
              <a:rPr lang="en-US" dirty="0" err="1"/>
              <a:t>ylabel</a:t>
            </a:r>
            <a:r>
              <a:rPr lang="en-US" dirty="0"/>
              <a:t>="y-axis")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506" y="762000"/>
            <a:ext cx="6325148" cy="540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8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Purpose: Discover patterns, relationships, distributions.</a:t>
            </a:r>
          </a:p>
          <a:p>
            <a:r>
              <a:t>Terminologies: Distribution, Outlier.</a:t>
            </a:r>
          </a:p>
          <a:p>
            <a:r>
              <a:t>Univariate Analysis: One feature at a time.</a:t>
            </a:r>
          </a:p>
          <a:p>
            <a:r>
              <a:t>Tools: Histplot (numeric), Countplot (categorical).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Skewed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Left-Skewed: Long tail on left.</a:t>
            </a:r>
          </a:p>
          <a:p>
            <a:r>
              <a:rPr dirty="0"/>
              <a:t>Right-Skewed: Long tail on right.</a:t>
            </a:r>
          </a:p>
          <a:p>
            <a:r>
              <a:rPr dirty="0"/>
              <a:t>Transformations: </a:t>
            </a:r>
            <a:r>
              <a:rPr dirty="0" smtClean="0"/>
              <a:t>Log</a:t>
            </a:r>
            <a:endParaRPr lang="en-US" dirty="0" smtClean="0"/>
          </a:p>
          <a:p>
            <a:r>
              <a:rPr dirty="0" smtClean="0"/>
              <a:t>Goal</a:t>
            </a:r>
            <a:r>
              <a:rPr dirty="0"/>
              <a:t>: Skewness between -1 and 1 (normal).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 Detection and 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4440"/>
            <a:ext cx="8229600" cy="4525963"/>
          </a:xfrm>
        </p:spPr>
        <p:txBody>
          <a:bodyPr>
            <a:noAutofit/>
          </a:bodyPr>
          <a:lstStyle/>
          <a:p>
            <a:endParaRPr sz="900" dirty="0"/>
          </a:p>
          <a:p>
            <a:r>
              <a:rPr lang="en-US" sz="900" dirty="0"/>
              <a:t>Removal of Outliers:</a:t>
            </a:r>
          </a:p>
          <a:p>
            <a:endParaRPr lang="en-US" sz="900" dirty="0"/>
          </a:p>
          <a:p>
            <a:r>
              <a:rPr lang="en-US" sz="900" dirty="0"/>
              <a:t>Pros: Simple to implement; removes extreme values that could distort analysis.</a:t>
            </a:r>
          </a:p>
          <a:p>
            <a:endParaRPr lang="en-US" sz="900" dirty="0"/>
          </a:p>
          <a:p>
            <a:r>
              <a:rPr lang="en-US" sz="900" dirty="0"/>
              <a:t>Cons: Can lead to loss of data, especially if the dataset is small; risk of removing valid data points.</a:t>
            </a:r>
          </a:p>
          <a:p>
            <a:endParaRPr lang="en-US" sz="900" dirty="0"/>
          </a:p>
          <a:p>
            <a:r>
              <a:rPr lang="en-US" sz="900" dirty="0"/>
              <a:t>Capping Outliers:</a:t>
            </a:r>
          </a:p>
          <a:p>
            <a:endParaRPr lang="en-US" sz="900" dirty="0"/>
          </a:p>
          <a:p>
            <a:r>
              <a:rPr lang="en-US" sz="900" dirty="0"/>
              <a:t>Pros: Keeps all data points; reduces the effect of outliers without losing data.</a:t>
            </a:r>
          </a:p>
          <a:p>
            <a:endParaRPr lang="en-US" sz="900" dirty="0"/>
          </a:p>
          <a:p>
            <a:r>
              <a:rPr lang="en-US" sz="900" dirty="0"/>
              <a:t>Cons: The choice of percentile is arbitrary and may not always be optimal.</a:t>
            </a:r>
          </a:p>
          <a:p>
            <a:endParaRPr lang="en-US" sz="900" dirty="0"/>
          </a:p>
          <a:p>
            <a:r>
              <a:rPr lang="en-US" sz="900" dirty="0"/>
              <a:t>Transformation:</a:t>
            </a:r>
          </a:p>
          <a:p>
            <a:endParaRPr lang="en-US" sz="900" dirty="0"/>
          </a:p>
          <a:p>
            <a:r>
              <a:rPr lang="en-US" sz="900" dirty="0"/>
              <a:t>Pros: Effective for right-skewed distributions; can normalize the data.</a:t>
            </a:r>
          </a:p>
          <a:p>
            <a:endParaRPr lang="en-US" sz="900" dirty="0"/>
          </a:p>
          <a:p>
            <a:r>
              <a:rPr lang="en-US" sz="900" dirty="0"/>
              <a:t>Cons: Not suitable for all types of data; log transformation is not defined for zero or negative values.</a:t>
            </a:r>
          </a:p>
          <a:p>
            <a:endParaRPr lang="en-US" sz="900" dirty="0"/>
          </a:p>
          <a:p>
            <a:r>
              <a:rPr lang="en-US" sz="900" dirty="0"/>
              <a:t>Imputation:</a:t>
            </a:r>
          </a:p>
          <a:p>
            <a:endParaRPr lang="en-US" sz="900" dirty="0"/>
          </a:p>
          <a:p>
            <a:r>
              <a:rPr lang="en-US" sz="900" dirty="0"/>
              <a:t>Pros: Simple to implement; retains all data points.</a:t>
            </a:r>
          </a:p>
          <a:p>
            <a:endParaRPr lang="en-US" sz="900" dirty="0"/>
          </a:p>
          <a:p>
            <a:r>
              <a:rPr lang="en-US" sz="900" dirty="0"/>
              <a:t>Cons: Can introduce bias if outliers are numerous; not suitable if outliers contain valuable information.</a:t>
            </a:r>
          </a:p>
          <a:p>
            <a:endParaRPr lang="en-US" sz="900" dirty="0"/>
          </a:p>
          <a:p>
            <a:r>
              <a:rPr lang="en-US" sz="900" dirty="0"/>
              <a:t>Z-Score Method:</a:t>
            </a:r>
          </a:p>
          <a:p>
            <a:endParaRPr lang="en-US" sz="900" dirty="0"/>
          </a:p>
          <a:p>
            <a:r>
              <a:rPr lang="en-US" sz="900" dirty="0"/>
              <a:t>Pros: Effective for normally distributed data; data-driven approach.</a:t>
            </a:r>
          </a:p>
          <a:p>
            <a:endParaRPr lang="en-US" sz="900" dirty="0"/>
          </a:p>
          <a:p>
            <a:r>
              <a:rPr lang="en-US" sz="900" dirty="0"/>
              <a:t>Cons: Not suitable for non-normal distributions</a:t>
            </a:r>
            <a:endParaRPr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1005</Words>
  <Application>Microsoft Office PowerPoint</Application>
  <PresentationFormat>On-screen Show (4:3)</PresentationFormat>
  <Paragraphs>144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AI &amp; Data Science: Data Wrangling, Visualization and EDA</vt:lpstr>
      <vt:lpstr>Introduction to AI and Data Science</vt:lpstr>
      <vt:lpstr>Data Wrangling Overview</vt:lpstr>
      <vt:lpstr>Steps in Data Wrangling</vt:lpstr>
      <vt:lpstr>Handling Missing Data</vt:lpstr>
      <vt:lpstr>Handling Categorical and Numerical Values</vt:lpstr>
      <vt:lpstr>Encoding Categorical Values: </vt:lpstr>
      <vt:lpstr>Visualization using Matplotlib</vt:lpstr>
      <vt:lpstr>Matplotlib: Sample Code</vt:lpstr>
      <vt:lpstr>PowerPoint Presentation</vt:lpstr>
      <vt:lpstr>Exploratory Data Analysis (EDA)</vt:lpstr>
      <vt:lpstr>Skewed Distributions</vt:lpstr>
      <vt:lpstr>Outlier Detection and Treatment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Data Science: Data Wrangling, Visualization and EDA</dc:title>
  <dc:subject/>
  <dc:creator/>
  <cp:keywords/>
  <dc:description>generated using python-pptx</dc:description>
  <cp:lastModifiedBy>Piyush Luitel</cp:lastModifiedBy>
  <cp:revision>7</cp:revision>
  <dcterms:created xsi:type="dcterms:W3CDTF">2013-01-27T09:14:16Z</dcterms:created>
  <dcterms:modified xsi:type="dcterms:W3CDTF">2025-05-28T01:31:11Z</dcterms:modified>
  <cp:category/>
</cp:coreProperties>
</file>