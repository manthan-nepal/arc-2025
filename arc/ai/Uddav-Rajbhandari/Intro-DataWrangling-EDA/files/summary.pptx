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0" r:id="rId10"/>
    <p:sldId id="273" r:id="rId11"/>
    <p:sldId id="265" r:id="rId12"/>
    <p:sldId id="274" r:id="rId13"/>
    <p:sldId id="271" r:id="rId14"/>
    <p:sldId id="272" r:id="rId15"/>
    <p:sldId id="266" r:id="rId16"/>
    <p:sldId id="275" r:id="rId17"/>
    <p:sldId id="276" r:id="rId18"/>
    <p:sldId id="267" r:id="rId19"/>
    <p:sldId id="277" r:id="rId20"/>
    <p:sldId id="268" r:id="rId21"/>
    <p:sldId id="26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283E2F-4C7D-7226-69BC-BDCB8CE0CF8E}" v="5" dt="2025-05-27T15:01:35.849"/>
    <p1510:client id="{7314F9B6-578A-7885-A7B9-470FB6FDE2E6}" v="34" dt="2025-05-27T05:35:59.474"/>
    <p1510:client id="{A2394919-5713-D5D7-EED1-AA35D66D29D0}" v="656" dt="2025-05-27T14:13:52.2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451B-57A2-4EB7-9C15-F0DEAED799C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981C2-138C-47A9-8B11-DD1D70CD1C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451B-57A2-4EB7-9C15-F0DEAED799C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981C2-138C-47A9-8B11-DD1D70CD1C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451B-57A2-4EB7-9C15-F0DEAED799C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981C2-138C-47A9-8B11-DD1D70CD1C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451B-57A2-4EB7-9C15-F0DEAED799C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981C2-138C-47A9-8B11-DD1D70CD1C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451B-57A2-4EB7-9C15-F0DEAED799C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981C2-138C-47A9-8B11-DD1D70CD1C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451B-57A2-4EB7-9C15-F0DEAED799C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981C2-138C-47A9-8B11-DD1D70CD1C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451B-57A2-4EB7-9C15-F0DEAED799C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981C2-138C-47A9-8B11-DD1D70CD1C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451B-57A2-4EB7-9C15-F0DEAED799C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981C2-138C-47A9-8B11-DD1D70CD1C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451B-57A2-4EB7-9C15-F0DEAED799C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981C2-138C-47A9-8B11-DD1D70CD1C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451B-57A2-4EB7-9C15-F0DEAED799C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981C2-138C-47A9-8B11-DD1D70CD1C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451B-57A2-4EB7-9C15-F0DEAED799C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981C2-138C-47A9-8B11-DD1D70CD1C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E451B-57A2-4EB7-9C15-F0DEAED799C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981C2-138C-47A9-8B11-DD1D70CD1CD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050595"/>
            <a:ext cx="6056111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6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2969469"/>
            <a:ext cx="6056111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>
                <a:solidFill>
                  <a:schemeClr val="tx1"/>
                </a:solidFill>
              </a:rPr>
              <a:t>• Objective: Explore AI and Data Science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>
                <a:solidFill>
                  <a:schemeClr val="tx1"/>
                </a:solidFill>
              </a:rPr>
              <a:t>Agenda: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>
                <a:solidFill>
                  <a:schemeClr val="tx1"/>
                </a:solidFill>
              </a:rPr>
              <a:t>• AI &amp; DS, Data Wrangling, Visualization, EDA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050595"/>
            <a:ext cx="6056111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to AI &amp; Data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2969469"/>
            <a:ext cx="6056111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AI enables machines to </a:t>
            </a:r>
            <a:r>
              <a:rPr lang="en-US" sz="1800" b="1" dirty="0">
                <a:solidFill>
                  <a:schemeClr val="tx1"/>
                </a:solidFill>
              </a:rPr>
              <a:t>simulate human intelligence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AI acts or thinks in:</a:t>
            </a:r>
            <a:endParaRPr lang="en-US" sz="1800" dirty="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Acting Humanly</a:t>
            </a:r>
            <a:r>
              <a:rPr lang="en-US" sz="1800" dirty="0">
                <a:solidFill>
                  <a:schemeClr val="tx1"/>
                </a:solidFill>
              </a:rPr>
              <a:t>: Imitates human behavior.</a:t>
            </a:r>
            <a:endParaRPr lang="en-US" sz="1800" dirty="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Thinking Humanly</a:t>
            </a:r>
            <a:r>
              <a:rPr lang="en-US" sz="1800" dirty="0">
                <a:solidFill>
                  <a:schemeClr val="tx1"/>
                </a:solidFill>
              </a:rPr>
              <a:t>: Mimics thought processes.</a:t>
            </a:r>
            <a:endParaRPr lang="en-US" sz="1800" dirty="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Acting Rationally</a:t>
            </a:r>
            <a:r>
              <a:rPr lang="en-US" sz="1800" dirty="0">
                <a:solidFill>
                  <a:schemeClr val="tx1"/>
                </a:solidFill>
              </a:rPr>
              <a:t>: Achieves goals through reasoning.</a:t>
            </a:r>
            <a:endParaRPr lang="en-US" sz="1800" dirty="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Thinking Rationally</a:t>
            </a:r>
            <a:r>
              <a:rPr lang="en-US" sz="1800" dirty="0">
                <a:solidFill>
                  <a:schemeClr val="tx1"/>
                </a:solidFill>
              </a:rPr>
              <a:t>: Makes logical, optimal decisions.</a:t>
            </a:r>
            <a:endParaRPr lang="en-US" sz="18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lang="en-US" sz="1800" b="1" dirty="0">
                <a:solidFill>
                  <a:schemeClr val="tx1"/>
                </a:solidFill>
              </a:rPr>
              <a:t>Applications in Organizations</a:t>
            </a:r>
            <a:r>
              <a:rPr lang="en-US" sz="1800" dirty="0">
                <a:solidFill>
                  <a:schemeClr val="tx1"/>
                </a:solidFill>
              </a:rPr>
              <a:t>:</a:t>
            </a:r>
            <a:endParaRPr lang="en-US" sz="1800" dirty="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Risk analysis, credit approvals, sales forecasting, decision-making.</a:t>
            </a:r>
            <a:endParaRPr lang="en-US" sz="1800" dirty="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050595"/>
            <a:ext cx="6056111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Data Science?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2969469"/>
            <a:ext cx="6056111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Interdisciplinary field to </a:t>
            </a:r>
            <a:r>
              <a:rPr lang="en-US" sz="2100" b="1" dirty="0">
                <a:solidFill>
                  <a:schemeClr val="tx1"/>
                </a:solidFill>
              </a:rPr>
              <a:t>extract insights</a:t>
            </a:r>
            <a:r>
              <a:rPr lang="en-US" sz="2100" dirty="0">
                <a:solidFill>
                  <a:schemeClr val="tx1"/>
                </a:solidFill>
              </a:rPr>
              <a:t> from data.</a:t>
            </a:r>
            <a:endParaRPr lang="en-US" sz="2100" dirty="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Key steps: </a:t>
            </a:r>
            <a:r>
              <a:rPr lang="en-US" sz="2100" b="1" dirty="0">
                <a:solidFill>
                  <a:schemeClr val="tx1"/>
                </a:solidFill>
              </a:rPr>
              <a:t>Collect, Clean, Analyze, Visualize, Interpret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Data fuels AI: Drives proactive strategy, risk reduction, faster decisions, and competitive advantage. </a:t>
            </a:r>
            <a:endParaRPr lang="en-US" sz="2100" dirty="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Big Data</a:t>
            </a:r>
            <a:r>
              <a:rPr lang="en-US" sz="2100" dirty="0">
                <a:solidFill>
                  <a:schemeClr val="tx1"/>
                </a:solidFill>
              </a:rPr>
              <a:t>:</a:t>
            </a:r>
            <a:r>
              <a:rPr lang="en-US" sz="2100" dirty="0">
                <a:solidFill>
                  <a:schemeClr val="tx1"/>
                </a:solidFill>
                <a:ea typeface="+mn-lt"/>
                <a:cs typeface="+mn-lt"/>
              </a:rPr>
              <a:t> Refers to massive, complex datasets that require advanced techniques to analyze.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050595"/>
            <a:ext cx="6056111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6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is wealth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2969469"/>
            <a:ext cx="6056111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Data Driven Decision Making: </a:t>
            </a:r>
            <a:br>
              <a:rPr lang="en-US" sz="2100" dirty="0"/>
            </a:br>
            <a:r>
              <a:rPr lang="en-US" sz="2100" dirty="0">
                <a:solidFill>
                  <a:schemeClr val="tx1"/>
                </a:solidFill>
              </a:rPr>
              <a:t>● Becomes more proactive</a:t>
            </a:r>
            <a:br>
              <a:rPr lang="en-US" sz="2100" dirty="0"/>
            </a:br>
            <a:r>
              <a:rPr lang="en-US" sz="2100" dirty="0">
                <a:solidFill>
                  <a:schemeClr val="tx1"/>
                </a:solidFill>
              </a:rPr>
              <a:t>● Cost savings</a:t>
            </a:r>
            <a:br>
              <a:rPr lang="en-US" sz="2100" dirty="0"/>
            </a:br>
            <a:r>
              <a:rPr lang="en-US" sz="2100" dirty="0">
                <a:solidFill>
                  <a:schemeClr val="tx1"/>
                </a:solidFill>
              </a:rPr>
              <a:t>● Reduces business risks</a:t>
            </a:r>
            <a:br>
              <a:rPr lang="en-US" sz="2100" dirty="0"/>
            </a:br>
            <a:r>
              <a:rPr lang="en-US" sz="2100" dirty="0">
                <a:solidFill>
                  <a:schemeClr val="tx1"/>
                </a:solidFill>
              </a:rPr>
              <a:t>● Faster decision making</a:t>
            </a:r>
            <a:br>
              <a:rPr lang="en-US" sz="2100" dirty="0"/>
            </a:br>
            <a:r>
              <a:rPr lang="en-US" sz="2100" dirty="0">
                <a:solidFill>
                  <a:schemeClr val="tx1"/>
                </a:solidFill>
              </a:rPr>
              <a:t>● Competitive advantage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050595"/>
            <a:ext cx="6056111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6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Wrangling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2308776"/>
            <a:ext cx="6056111" cy="346108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algn="l">
              <a:lnSpc>
                <a:spcPct val="90000"/>
              </a:lnSpc>
            </a:pPr>
            <a:r>
              <a:rPr lang="en-US" sz="1500" dirty="0">
                <a:solidFill>
                  <a:schemeClr val="tx1"/>
                </a:solidFill>
              </a:rPr>
              <a:t>• </a:t>
            </a:r>
            <a:r>
              <a:rPr lang="en-US" sz="1800" dirty="0">
                <a:solidFill>
                  <a:schemeClr val="tx1"/>
                </a:solidFill>
              </a:rPr>
              <a:t>process that involves cleaning, transforming, and preparing raw data into a format suitable for analysis.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Data Wrangling Steps</a:t>
            </a:r>
            <a:endParaRPr lang="en-US" sz="1800" b="1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1. Discover</a:t>
            </a:r>
            <a:r>
              <a:rPr lang="en-US" sz="1800" dirty="0">
                <a:solidFill>
                  <a:schemeClr val="tx1"/>
                </a:solidFill>
              </a:rPr>
              <a:t>: Explore the data and find any issues or insights.</a:t>
            </a:r>
            <a:endParaRPr lang="en-US" sz="180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2.  Structure</a:t>
            </a:r>
            <a:r>
              <a:rPr lang="en-US" sz="1800" dirty="0">
                <a:solidFill>
                  <a:schemeClr val="tx1"/>
                </a:solidFill>
              </a:rPr>
              <a:t>: Organize the data into a proper format for analysis.</a:t>
            </a:r>
            <a:endParaRPr lang="en-US" sz="180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3. Clean</a:t>
            </a:r>
            <a:r>
              <a:rPr lang="en-US" sz="1800" dirty="0">
                <a:solidFill>
                  <a:schemeClr val="tx1"/>
                </a:solidFill>
              </a:rPr>
              <a:t>: Fix errors, remove duplicates, and handle missing data.</a:t>
            </a:r>
            <a:endParaRPr lang="en-US" sz="180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4. Enrich</a:t>
            </a:r>
            <a:r>
              <a:rPr lang="en-US" sz="1800" dirty="0">
                <a:solidFill>
                  <a:schemeClr val="tx1"/>
                </a:solidFill>
              </a:rPr>
              <a:t>: Add useful information from other sources to improve the data.</a:t>
            </a:r>
            <a:endParaRPr lang="en-US" sz="180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5. Validate</a:t>
            </a:r>
            <a:r>
              <a:rPr lang="en-US" sz="1800" dirty="0">
                <a:solidFill>
                  <a:schemeClr val="tx1"/>
                </a:solidFill>
              </a:rPr>
              <a:t>: Check if the data is correct, complete, and reliable.</a:t>
            </a:r>
            <a:endParaRPr lang="en-US" sz="180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6. Publish</a:t>
            </a:r>
            <a:r>
              <a:rPr lang="en-US" sz="1800" dirty="0">
                <a:solidFill>
                  <a:schemeClr val="tx1"/>
                </a:solidFill>
              </a:rPr>
              <a:t>: Finalize the data and make it ready for others to use</a:t>
            </a:r>
            <a:endParaRPr lang="en-US" sz="1800" dirty="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5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455971"/>
            <a:ext cx="6056111" cy="152599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Wrangling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1965215"/>
            <a:ext cx="6056111" cy="38046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Check for duplicates data</a:t>
            </a:r>
            <a:r>
              <a:rPr lang="en-US" sz="2100" dirty="0">
                <a:solidFill>
                  <a:schemeClr val="tx1"/>
                </a:solidFill>
              </a:rPr>
              <a:t> -</a:t>
            </a: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b="1" dirty="0">
                <a:solidFill>
                  <a:schemeClr val="tx1"/>
                </a:solidFill>
                <a:ea typeface="+mn-lt"/>
                <a:cs typeface="+mn-lt"/>
              </a:rPr>
              <a:t>Why?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Duplicate entries can bias the model and lead to inaccurate results.</a:t>
            </a:r>
            <a:endParaRPr lang="en-US" sz="1800" dirty="0">
              <a:solidFill>
                <a:schemeClr val="tx1"/>
              </a:solidFill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Handle missing data</a:t>
            </a:r>
            <a:r>
              <a:rPr lang="en-US" sz="2100" dirty="0">
                <a:solidFill>
                  <a:schemeClr val="tx1"/>
                </a:solidFill>
              </a:rPr>
              <a:t> - </a:t>
            </a:r>
            <a:r>
              <a:rPr lang="en-US" sz="2100" dirty="0">
                <a:solidFill>
                  <a:schemeClr val="tx1"/>
                </a:solidFill>
                <a:ea typeface="+mn-lt"/>
                <a:cs typeface="+mn-lt"/>
              </a:rPr>
              <a:t>Missing values can lead to errors or bias.</a:t>
            </a:r>
            <a:endParaRPr lang="en-US" sz="21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lang="en-US" sz="2100" dirty="0">
                <a:solidFill>
                  <a:schemeClr val="tx1"/>
                </a:solidFill>
              </a:rPr>
              <a:t>• </a:t>
            </a:r>
            <a:r>
              <a:rPr lang="en-US" sz="2400" dirty="0">
                <a:solidFill>
                  <a:schemeClr val="tx1"/>
                </a:solidFill>
              </a:rPr>
              <a:t>Encoding categorical dat</a:t>
            </a:r>
            <a:r>
              <a:rPr lang="en-US" sz="2100" dirty="0">
                <a:solidFill>
                  <a:schemeClr val="tx1"/>
                </a:solidFill>
              </a:rPr>
              <a:t>a -</a:t>
            </a:r>
            <a:r>
              <a:rPr lang="en-US" sz="2100" dirty="0">
                <a:solidFill>
                  <a:schemeClr val="tx1"/>
                </a:solidFill>
                <a:ea typeface="+mn-lt"/>
                <a:cs typeface="+mn-lt"/>
              </a:rPr>
              <a:t>Categorical features need to be converted into numbers for ML models </a:t>
            </a:r>
            <a:endParaRPr lang="en-US" sz="2100" dirty="0">
              <a:solidFill>
                <a:schemeClr val="tx1"/>
              </a:solidFill>
              <a:ea typeface="Calibri"/>
              <a:cs typeface="Calibri"/>
            </a:endParaRPr>
          </a:p>
          <a:p>
            <a:pPr lvl="1" indent="-228600" algn="l">
              <a:buFont typeface="Courier New" panose="020B0604020202020204" pitchFamily="34" charset="0"/>
              <a:buChar char="o"/>
            </a:pPr>
            <a:r>
              <a:rPr lang="en-US" sz="2000" dirty="0">
                <a:solidFill>
                  <a:schemeClr val="tx1"/>
                </a:solidFill>
              </a:rPr>
              <a:t>Label Encoding </a:t>
            </a:r>
            <a:r>
              <a:rPr lang="en-US" sz="1300" dirty="0">
                <a:solidFill>
                  <a:schemeClr val="tx1"/>
                </a:solidFill>
              </a:rPr>
              <a:t>-</a:t>
            </a: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 Converts categories into numbers (e.g., Red=0, Blue=1, Green=2).Best for 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ordinal</a:t>
            </a: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 data.</a:t>
            </a:r>
            <a:endParaRPr lang="en-US" sz="1600" dirty="0">
              <a:solidFill>
                <a:schemeClr val="tx1"/>
              </a:solidFill>
              <a:ea typeface="Calibri"/>
              <a:cs typeface="Calibri"/>
            </a:endParaRPr>
          </a:p>
          <a:p>
            <a:pPr lvl="1" indent="-228600" algn="l">
              <a:buFont typeface="Courier New" panose="020B0604020202020204" pitchFamily="34" charset="0"/>
              <a:buChar char="o"/>
            </a:pPr>
            <a:r>
              <a:rPr lang="en-US" sz="1800" dirty="0">
                <a:solidFill>
                  <a:schemeClr val="tx1"/>
                </a:solidFill>
              </a:rPr>
              <a:t>One hot encoding</a:t>
            </a:r>
            <a:r>
              <a:rPr lang="en-US" sz="1300" dirty="0">
                <a:solidFill>
                  <a:schemeClr val="tx1"/>
                </a:solidFill>
              </a:rPr>
              <a:t> -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Creates </a:t>
            </a:r>
            <a:r>
              <a:rPr lang="en-US" sz="1800" b="1" dirty="0">
                <a:solidFill>
                  <a:schemeClr val="tx1"/>
                </a:solidFill>
                <a:ea typeface="+mn-lt"/>
                <a:cs typeface="+mn-lt"/>
              </a:rPr>
              <a:t>binary columns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for each category (e.g., Red=[1,0,0], Blue=[0,1,0]).Best for </a:t>
            </a:r>
            <a:r>
              <a:rPr lang="en-US" sz="1800" b="1" dirty="0">
                <a:solidFill>
                  <a:schemeClr val="tx1"/>
                </a:solidFill>
                <a:ea typeface="+mn-lt"/>
                <a:cs typeface="+mn-lt"/>
              </a:rPr>
              <a:t>nominal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data</a:t>
            </a:r>
            <a:endParaRPr lang="en-US" sz="1800" dirty="0">
              <a:solidFill>
                <a:schemeClr val="tx1"/>
              </a:solidFill>
              <a:ea typeface="Calibri"/>
              <a:cs typeface="Calibri"/>
            </a:endParaRPr>
          </a:p>
          <a:p>
            <a:pPr lvl="1" indent="-228600" algn="l">
              <a:lnSpc>
                <a:spcPct val="90000"/>
              </a:lnSpc>
              <a:buFont typeface="Courier New" panose="020B0604020202020204" pitchFamily="34" charset="0"/>
              <a:buChar char="o"/>
            </a:pPr>
            <a:endParaRPr lang="en-US" sz="1700" dirty="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100">
              <a:solidFill>
                <a:schemeClr val="tx1"/>
              </a:solidFill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100">
              <a:solidFill>
                <a:schemeClr val="tx1"/>
              </a:solidFill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1639248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5400" dirty="0"/>
              <a:t>Introduction to Matplotlib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2917867"/>
            <a:ext cx="5626743" cy="2977604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Matplotlib is a visualization library for python</a:t>
            </a:r>
            <a:endParaRPr lang="en-US">
              <a:solidFill>
                <a:schemeClr val="tx1"/>
              </a:solidFill>
              <a:latin typeface="Barlow"/>
            </a:endParaRPr>
          </a:p>
          <a:p>
            <a:pPr algn="l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• Versatile, integrates with Pandas/NumPy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endParaRPr lang="en-US" sz="2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2088519"/>
          </a:xfrm>
        </p:spPr>
        <p:txBody>
          <a:bodyPr anchor="b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US" sz="7800"/>
              <a:t>Basic Plots with Matplotlib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3116075"/>
            <a:ext cx="5428535" cy="2779396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•</a:t>
            </a:r>
            <a:r>
              <a:rPr lang="en-US" dirty="0">
                <a:solidFill>
                  <a:schemeClr val="tx1"/>
                </a:solidFill>
              </a:rPr>
              <a:t> Line, Bar, Scatter, Histogram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457200" indent="-457200" algn="l">
              <a:buChar char="•"/>
            </a:pPr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Plotting using </a:t>
            </a:r>
            <a:r>
              <a:rPr lang="en-US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numpy</a:t>
            </a:r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arrays</a:t>
            </a:r>
          </a:p>
          <a:p>
            <a:pPr marL="457200" indent="-457200" algn="l">
              <a:buChar char="•"/>
            </a:pPr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Plotting directly with pandas</a:t>
            </a:r>
          </a:p>
          <a:p>
            <a:pPr marL="457200" indent="-457200" algn="l">
              <a:buChar char="•"/>
            </a:pPr>
            <a:endParaRPr lang="en-US" dirty="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CAC90-DA3C-D251-7085-517565822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15D8C34-DDDB-8FA0-FCB8-6B905EEBA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ED729096-F1DE-752B-0C56-F4E29CB35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0413A5-81E7-B5C8-BF8F-269EF6589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0E4D8B-DFE6-CF9E-3698-A0C1068D5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930" y="625791"/>
            <a:ext cx="6923558" cy="1546750"/>
          </a:xfrm>
        </p:spPr>
        <p:txBody>
          <a:bodyPr anchor="b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US" sz="5400" dirty="0"/>
              <a:t>Two ways of creating plots</a:t>
            </a:r>
            <a:endParaRPr lang="en-US" sz="5400" dirty="0"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76455-B0FB-4CC1-C04C-3AF30E2927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930" y="2204318"/>
            <a:ext cx="5454962" cy="3691153"/>
          </a:xfrm>
        </p:spPr>
        <p:txBody>
          <a:bodyPr anchor="t">
            <a:normAutofit/>
          </a:bodyPr>
          <a:lstStyle/>
          <a:p>
            <a:pPr algn="l"/>
            <a:r>
              <a:rPr lang="en-US" sz="3000" dirty="0">
                <a:solidFill>
                  <a:schemeClr val="tx1"/>
                </a:solidFill>
                <a:latin typeface="Barlow"/>
                <a:ea typeface="Calibri"/>
                <a:cs typeface="Calibri"/>
              </a:rPr>
              <a:t>Two ways of creating plots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/>
            <a:r>
              <a:rPr lang="en-US" sz="1500" dirty="0">
                <a:solidFill>
                  <a:schemeClr val="tx1"/>
                </a:solidFill>
                <a:latin typeface="Barlow"/>
                <a:ea typeface="Calibri"/>
                <a:cs typeface="Calibri"/>
              </a:rPr>
              <a:t>There are two main ways of creating plots in matplotlib: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</a:rPr>
              <a:t>Using </a:t>
            </a:r>
            <a:r>
              <a:rPr lang="en-US" err="1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pyplot</a:t>
            </a:r>
            <a:endParaRPr lang="en-US">
              <a:solidFill>
                <a:schemeClr val="tx1"/>
              </a:solidFill>
              <a:latin typeface="Consolas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Simple, quick for basic plots (e.g., x vs. y).</a:t>
            </a:r>
            <a:endParaRPr lang="en-US" sz="18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Ideal for exploratory plots and learning.</a:t>
            </a:r>
            <a:endParaRPr lang="en-US" sz="1800">
              <a:solidFill>
                <a:schemeClr val="tx1"/>
              </a:solidFill>
              <a:ea typeface="+mn-lt"/>
              <a:cs typeface="+mn-lt"/>
            </a:endParaRPr>
          </a:p>
          <a:p>
            <a:pPr algn="l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</a:rPr>
              <a:t>2️ Object-Oriented API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Offers more control &amp; flexibility.</a:t>
            </a:r>
            <a:endParaRPr lang="en-US" sz="18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Recommended for complex plots (e.g., multiple subplot</a:t>
            </a:r>
            <a:r>
              <a:rPr lang="en-US" sz="1800" dirty="0">
                <a:solidFill>
                  <a:srgbClr val="373F49"/>
                </a:solidFill>
                <a:ea typeface="+mn-lt"/>
                <a:cs typeface="+mn-lt"/>
              </a:rPr>
              <a:t>s).</a:t>
            </a:r>
            <a:endParaRPr lang="en-US" sz="1800" dirty="0"/>
          </a:p>
          <a:p>
            <a:pPr marL="285750" indent="-285750" algn="l">
              <a:buFont typeface="Arial"/>
              <a:buChar char="•"/>
            </a:pPr>
            <a:endParaRPr lang="en-US" sz="1500" dirty="0">
              <a:solidFill>
                <a:srgbClr val="373F49"/>
              </a:solidFill>
              <a:latin typeface="Barlow"/>
              <a:ea typeface="Calibri"/>
              <a:cs typeface="Calibri"/>
            </a:endParaRPr>
          </a:p>
          <a:p>
            <a:pPr algn="l"/>
            <a:endParaRPr lang="en-US" dirty="0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  <a:p>
            <a:pPr marL="457200" indent="-457200" algn="l">
              <a:buChar char="•"/>
            </a:pPr>
            <a:endParaRPr lang="en-US" dirty="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2401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534E4D-7B78-E5CC-8542-74E410F38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9315B2-4DE5-5885-4D7A-62A441C3D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71E4B9AF-7DF7-A205-D1DA-5F268145B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428D82-B36F-95EB-0983-8B517A6FB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EEC623-1FFF-5CCC-F33A-5C5666F7C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930" y="625791"/>
            <a:ext cx="6923558" cy="1546750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600" b="1" dirty="0"/>
              <a:t>Matplotlib Plot Terminology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35C712-FF6A-F880-4867-A6A0051468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930" y="2204318"/>
            <a:ext cx="5454962" cy="3691153"/>
          </a:xfrm>
        </p:spPr>
        <p:txBody>
          <a:bodyPr anchor="t">
            <a:normAutofit lnSpcReduction="10000"/>
          </a:bodyPr>
          <a:lstStyle/>
          <a:p>
            <a:pPr algn="l"/>
            <a:endParaRPr lang="en-US" b="1" dirty="0"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ea typeface="+mn-lt"/>
                <a:cs typeface="+mn-lt"/>
              </a:rPr>
              <a:t>Figure</a:t>
            </a:r>
            <a:r>
              <a:rPr lang="en-US" sz="3000" dirty="0">
                <a:solidFill>
                  <a:srgbClr val="000000"/>
                </a:solidFill>
                <a:ea typeface="+mn-lt"/>
                <a:cs typeface="+mn-lt"/>
              </a:rPr>
              <a:t>: The overall plot or canvas.</a:t>
            </a:r>
            <a:endParaRPr lang="en-US" dirty="0"/>
          </a:p>
          <a:p>
            <a:pPr marL="285750" indent="-285750" algn="l"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ea typeface="+mn-lt"/>
                <a:cs typeface="+mn-lt"/>
              </a:rPr>
              <a:t>Axes</a:t>
            </a:r>
            <a:r>
              <a:rPr lang="en-US" sz="3000" dirty="0">
                <a:solidFill>
                  <a:srgbClr val="000000"/>
                </a:solidFill>
                <a:ea typeface="+mn-lt"/>
                <a:cs typeface="+mn-lt"/>
              </a:rPr>
              <a:t>: The individual plots within the figure (1 figure → multiple axes).</a:t>
            </a:r>
          </a:p>
          <a:p>
            <a:pPr marL="285750" indent="-285750" algn="l"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ea typeface="+mn-lt"/>
                <a:cs typeface="+mn-lt"/>
              </a:rPr>
              <a:t>Axis</a:t>
            </a:r>
            <a:r>
              <a:rPr lang="en-US" sz="3000" dirty="0">
                <a:solidFill>
                  <a:srgbClr val="000000"/>
                </a:solidFill>
                <a:ea typeface="+mn-lt"/>
                <a:cs typeface="+mn-lt"/>
              </a:rPr>
              <a:t>: The horizontal (x) or vertical (y) lines in a plot.</a:t>
            </a:r>
          </a:p>
          <a:p>
            <a:pPr algn="l"/>
            <a:endParaRPr lang="en-US" sz="3000" dirty="0">
              <a:solidFill>
                <a:srgbClr val="000000"/>
              </a:solidFill>
              <a:latin typeface="Barlow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endParaRPr lang="en-US" sz="1500" dirty="0">
              <a:solidFill>
                <a:srgbClr val="373F49"/>
              </a:solidFill>
              <a:latin typeface="Barlow"/>
              <a:ea typeface="Calibri"/>
              <a:cs typeface="Calibri"/>
            </a:endParaRPr>
          </a:p>
          <a:p>
            <a:pPr algn="l"/>
            <a:endParaRPr lang="en-US" dirty="0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  <a:p>
            <a:pPr marL="457200" indent="-457200" algn="l">
              <a:buChar char="•"/>
            </a:pPr>
            <a:endParaRPr lang="en-US" dirty="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7822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1388184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5400" dirty="0">
                <a:ea typeface="+mj-lt"/>
                <a:cs typeface="+mj-lt"/>
              </a:rPr>
              <a:t>Common type of plots using NumPy arrays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2389312"/>
            <a:ext cx="5454962" cy="3506159"/>
          </a:xfrm>
        </p:spPr>
        <p:txBody>
          <a:bodyPr anchor="t">
            <a:norm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sz="2000" dirty="0">
                <a:solidFill>
                  <a:srgbClr val="373F49"/>
                </a:solidFill>
                <a:latin typeface="Barlow"/>
              </a:rPr>
              <a:t>Line plot - </a:t>
            </a:r>
            <a:r>
              <a:rPr lang="en-US" sz="2000" dirty="0" err="1">
                <a:solidFill>
                  <a:schemeClr val="tx1"/>
                </a:solidFill>
                <a:latin typeface="Consolas"/>
              </a:rPr>
              <a:t>ax.plot</a:t>
            </a:r>
            <a:r>
              <a:rPr lang="en-US" sz="2000" dirty="0">
                <a:solidFill>
                  <a:schemeClr val="tx1"/>
                </a:solidFill>
                <a:latin typeface="Consolas"/>
              </a:rPr>
              <a:t>()</a:t>
            </a:r>
            <a:r>
              <a:rPr lang="en-US" sz="2000" dirty="0">
                <a:solidFill>
                  <a:srgbClr val="373F49"/>
                </a:solidFill>
                <a:latin typeface="Barlow"/>
              </a:rPr>
              <a:t> (this is the default plot in matplotlib) -</a:t>
            </a:r>
            <a:r>
              <a:rPr lang="en-US" sz="2000" dirty="0">
                <a:solidFill>
                  <a:srgbClr val="373F49"/>
                </a:solidFill>
                <a:ea typeface="+mn-lt"/>
                <a:cs typeface="+mn-lt"/>
              </a:rPr>
              <a:t>Show trends over time or sequences.</a:t>
            </a:r>
            <a:endParaRPr lang="en-US" sz="2000" dirty="0"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000" dirty="0">
                <a:solidFill>
                  <a:srgbClr val="373F49"/>
                </a:solidFill>
                <a:latin typeface="Barlow"/>
              </a:rPr>
              <a:t>Scatter plot - </a:t>
            </a:r>
            <a:r>
              <a:rPr lang="en-US" sz="2000" dirty="0" err="1">
                <a:solidFill>
                  <a:schemeClr val="tx1"/>
                </a:solidFill>
                <a:latin typeface="Consolas"/>
              </a:rPr>
              <a:t>ax.scatter</a:t>
            </a:r>
            <a:r>
              <a:rPr lang="en-US" sz="2000" dirty="0">
                <a:solidFill>
                  <a:schemeClr val="tx1"/>
                </a:solidFill>
                <a:latin typeface="Consolas"/>
              </a:rPr>
              <a:t>() -</a:t>
            </a: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Display individual data points and their relationships.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000" dirty="0">
                <a:solidFill>
                  <a:srgbClr val="373F49"/>
                </a:solidFill>
                <a:latin typeface="Barlow"/>
              </a:rPr>
              <a:t>Bar plot - </a:t>
            </a:r>
            <a:r>
              <a:rPr lang="en-US" sz="2000" dirty="0" err="1">
                <a:solidFill>
                  <a:schemeClr val="tx1"/>
                </a:solidFill>
                <a:latin typeface="Consolas"/>
              </a:rPr>
              <a:t>ax.bar</a:t>
            </a:r>
            <a:r>
              <a:rPr lang="en-US" sz="2000" dirty="0">
                <a:solidFill>
                  <a:schemeClr val="tx1"/>
                </a:solidFill>
                <a:latin typeface="Consolas"/>
              </a:rPr>
              <a:t>() - </a:t>
            </a: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Compare quantities across categories.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000" dirty="0">
                <a:solidFill>
                  <a:srgbClr val="373F49"/>
                </a:solidFill>
                <a:latin typeface="Barlow"/>
              </a:rPr>
              <a:t>Histogram plot - </a:t>
            </a:r>
            <a:r>
              <a:rPr lang="en-US" sz="2000" dirty="0" err="1">
                <a:solidFill>
                  <a:schemeClr val="tx1"/>
                </a:solidFill>
                <a:latin typeface="Consolas"/>
              </a:rPr>
              <a:t>ax.hist</a:t>
            </a:r>
            <a:r>
              <a:rPr lang="en-US" sz="2000" dirty="0">
                <a:solidFill>
                  <a:schemeClr val="tx1"/>
                </a:solidFill>
                <a:latin typeface="Consolas"/>
              </a:rPr>
              <a:t>() - </a:t>
            </a: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Show data distributions.</a:t>
            </a:r>
            <a:endParaRPr lang="en-US" sz="2000" dirty="0">
              <a:solidFill>
                <a:schemeClr val="tx1"/>
              </a:solidFill>
            </a:endParaRPr>
          </a:p>
          <a:p>
            <a:pPr algn="l"/>
            <a:endParaRPr lang="en-US" dirty="0">
              <a:ea typeface="Calibri"/>
              <a:cs typeface="Calibri"/>
            </a:endParaRPr>
          </a:p>
          <a:p>
            <a:pPr algn="l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949809-6195-0999-F87F-0B8B30B49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FA0D286-0D48-6A3C-CE81-08C9FD0ED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46C6517A-9C1C-6ABD-F485-262D9DDCA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C37FCB-D0A5-4F31-7973-5FACF2DE5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5D121-A2D4-4702-CF62-1EC38580B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138818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US" sz="4800" dirty="0">
                <a:ea typeface="+mj-lt"/>
                <a:cs typeface="+mj-lt"/>
              </a:rPr>
              <a:t>Subplots with Multiple Axes 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05B237-0FE7-2022-0AF1-BEC2FCAD2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930" y="2389312"/>
            <a:ext cx="5454962" cy="3506159"/>
          </a:xfrm>
        </p:spPr>
        <p:txBody>
          <a:bodyPr anchor="t">
            <a:normAutofit/>
          </a:bodyPr>
          <a:lstStyle/>
          <a:p>
            <a:pPr algn="l"/>
            <a:r>
              <a:rPr lang="en-US" sz="2000" b="1" dirty="0">
                <a:solidFill>
                  <a:srgbClr val="373F49"/>
                </a:solidFill>
                <a:ea typeface="+mn-lt"/>
                <a:cs typeface="+mn-lt"/>
              </a:rPr>
              <a:t>Subplots</a:t>
            </a:r>
            <a:r>
              <a:rPr lang="en-US" sz="2000" dirty="0">
                <a:solidFill>
                  <a:srgbClr val="373F49"/>
                </a:solidFill>
                <a:ea typeface="+mn-lt"/>
                <a:cs typeface="+mn-lt"/>
              </a:rPr>
              <a:t> allow us to display </a:t>
            </a:r>
            <a:r>
              <a:rPr lang="en-US" sz="2000" b="1" dirty="0">
                <a:solidFill>
                  <a:srgbClr val="373F49"/>
                </a:solidFill>
                <a:ea typeface="+mn-lt"/>
                <a:cs typeface="+mn-lt"/>
              </a:rPr>
              <a:t>multiple plots</a:t>
            </a:r>
            <a:r>
              <a:rPr lang="en-US" sz="2000" dirty="0">
                <a:solidFill>
                  <a:srgbClr val="373F49"/>
                </a:solidFill>
                <a:ea typeface="+mn-lt"/>
                <a:cs typeface="+mn-lt"/>
              </a:rPr>
              <a:t> (axes) within a single figure. (</a:t>
            </a:r>
            <a:r>
              <a:rPr lang="en-US" sz="2000" dirty="0" err="1">
                <a:solidFill>
                  <a:srgbClr val="373F49"/>
                </a:solidFill>
                <a:ea typeface="+mn-lt"/>
                <a:cs typeface="+mn-lt"/>
              </a:rPr>
              <a:t>plt.subplots</a:t>
            </a:r>
            <a:r>
              <a:rPr lang="en-US" sz="2000" dirty="0">
                <a:solidFill>
                  <a:srgbClr val="373F49"/>
                </a:solidFill>
                <a:ea typeface="+mn-lt"/>
                <a:cs typeface="+mn-lt"/>
              </a:rPr>
              <a:t>(</a:t>
            </a:r>
            <a:r>
              <a:rPr lang="en-US" sz="2000" dirty="0" err="1">
                <a:solidFill>
                  <a:srgbClr val="373F49"/>
                </a:solidFill>
                <a:ea typeface="+mn-lt"/>
                <a:cs typeface="+mn-lt"/>
              </a:rPr>
              <a:t>nrows,ncol</a:t>
            </a:r>
            <a:r>
              <a:rPr lang="en-US" sz="2000" dirty="0">
                <a:solidFill>
                  <a:srgbClr val="373F49"/>
                </a:solidFill>
                <a:ea typeface="+mn-lt"/>
                <a:cs typeface="+mn-lt"/>
              </a:rPr>
              <a:t>))</a:t>
            </a:r>
            <a:endParaRPr lang="en-US" dirty="0"/>
          </a:p>
          <a:p>
            <a:pPr algn="l"/>
            <a:r>
              <a:rPr lang="en-US" sz="2000" b="1" dirty="0">
                <a:solidFill>
                  <a:srgbClr val="373F49"/>
                </a:solidFill>
                <a:ea typeface="+mn-lt"/>
                <a:cs typeface="+mn-lt"/>
              </a:rPr>
              <a:t>Purpose</a:t>
            </a:r>
            <a:r>
              <a:rPr lang="en-US" sz="2000" dirty="0">
                <a:solidFill>
                  <a:srgbClr val="373F49"/>
                </a:solidFill>
                <a:ea typeface="+mn-lt"/>
                <a:cs typeface="+mn-lt"/>
              </a:rPr>
              <a:t>: Display multiple plots in a single figure.</a:t>
            </a:r>
            <a:endParaRPr lang="en-US" sz="2000" dirty="0">
              <a:solidFill>
                <a:srgbClr val="373F49"/>
              </a:solidFill>
              <a:ea typeface="Calibri"/>
              <a:cs typeface="Calibri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Why Use Subplots?</a:t>
            </a:r>
            <a:endParaRPr lang="en-US" sz="20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marL="342900" indent="-342900" algn="l">
              <a:buChar char="•"/>
            </a:pP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 Compare multiple variables side by side.</a:t>
            </a:r>
            <a:endParaRPr lang="en-US" sz="2000" dirty="0" err="1">
              <a:solidFill>
                <a:schemeClr val="tx1"/>
              </a:solidFill>
              <a:ea typeface="+mn-lt"/>
              <a:cs typeface="+mn-lt"/>
            </a:endParaRPr>
          </a:p>
          <a:p>
            <a:pPr marL="342900" indent="-342900" algn="l">
              <a:buChar char="•"/>
            </a:pP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Combine different plot types in one figure.</a:t>
            </a:r>
          </a:p>
          <a:p>
            <a:pPr marL="342900" indent="-342900" algn="l">
              <a:buChar char="•"/>
            </a:pP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 Make efficient use of space in a report or dashboard.</a:t>
            </a:r>
            <a:br>
              <a:rPr lang="en-US" sz="2000" dirty="0">
                <a:ea typeface="+mn-lt"/>
                <a:cs typeface="+mn-lt"/>
              </a:rPr>
            </a:br>
            <a:br>
              <a:rPr lang="en-US" sz="2000" dirty="0">
                <a:ea typeface="+mn-lt"/>
                <a:cs typeface="+mn-lt"/>
              </a:rPr>
            </a:b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/>
            <a:endParaRPr lang="en-US" b="1" dirty="0">
              <a:ea typeface="Calibri"/>
              <a:cs typeface="Calibri"/>
            </a:endParaRP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799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FF8D0B-513C-7A22-2619-726AF5B67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FAFE82-3AE7-5E1D-3A51-5EBC18AB1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950B8ADA-AF56-8597-64AC-99DC6C3CF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E73955-1C4B-5AD9-BD75-AB781D126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471D30-9266-32AF-FB93-6441F8BDD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930" y="625791"/>
            <a:ext cx="6923558" cy="1507109"/>
          </a:xfrm>
        </p:spPr>
        <p:txBody>
          <a:bodyPr anchor="b">
            <a:normAutofit/>
          </a:bodyPr>
          <a:lstStyle/>
          <a:p>
            <a:pPr algn="l"/>
            <a:r>
              <a:rPr lang="en-US" sz="3300" dirty="0">
                <a:latin typeface="Barlow"/>
                <a:ea typeface="+mj-lt"/>
                <a:cs typeface="+mj-lt"/>
              </a:rPr>
              <a:t>Plotting data directly with pandas</a:t>
            </a:r>
            <a:endParaRPr lang="en-US" dirty="0"/>
          </a:p>
          <a:p>
            <a:pPr algn="l"/>
            <a:endParaRPr lang="en-US" sz="5400" dirty="0"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969E57-4CE0-3BCA-66F9-F8FFD0CE3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930" y="1411485"/>
            <a:ext cx="5454962" cy="4483986"/>
          </a:xfrm>
        </p:spPr>
        <p:txBody>
          <a:bodyPr anchor="t">
            <a:normAutofit fontScale="92500" lnSpcReduction="10000"/>
          </a:bodyPr>
          <a:lstStyle/>
          <a:p>
            <a:pPr algn="l"/>
            <a:r>
              <a:rPr lang="en-US" b="1" dirty="0"/>
              <a:t>1</a:t>
            </a:r>
            <a:r>
              <a:rPr lang="en-US" b="1" dirty="0">
                <a:solidFill>
                  <a:schemeClr val="tx1"/>
                </a:solidFill>
              </a:rPr>
              <a:t>.Line Plot</a:t>
            </a:r>
            <a:endParaRPr lang="en-US" sz="2000" dirty="0">
              <a:solidFill>
                <a:schemeClr val="tx1"/>
              </a:solidFill>
              <a:latin typeface="Barlow"/>
            </a:endParaRPr>
          </a:p>
          <a:p>
            <a:pPr algn="l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Create a Series using </a:t>
            </a:r>
            <a:r>
              <a:rPr lang="en-US" sz="2000" err="1">
                <a:solidFill>
                  <a:schemeClr val="tx1"/>
                </a:solidFill>
                <a:latin typeface="Consolas"/>
              </a:rPr>
              <a:t>pd.Series</a:t>
            </a:r>
            <a:r>
              <a:rPr lang="en-US" sz="2000" dirty="0">
                <a:solidFill>
                  <a:schemeClr val="tx1"/>
                </a:solidFill>
                <a:latin typeface="Consolas"/>
              </a:rPr>
              <a:t>()</a:t>
            </a: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 with date as index.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Use </a:t>
            </a:r>
            <a:r>
              <a:rPr lang="en-US" sz="2000" err="1">
                <a:solidFill>
                  <a:schemeClr val="tx1"/>
                </a:solidFill>
                <a:latin typeface="Consolas"/>
              </a:rPr>
              <a:t>cumsum</a:t>
            </a:r>
            <a:r>
              <a:rPr lang="en-US" sz="2000" dirty="0">
                <a:solidFill>
                  <a:schemeClr val="tx1"/>
                </a:solidFill>
                <a:latin typeface="Consolas"/>
              </a:rPr>
              <a:t>()</a:t>
            </a: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 to get cumulative sum.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Plot using </a:t>
            </a:r>
            <a:r>
              <a:rPr lang="en-US" sz="2000" dirty="0">
                <a:solidFill>
                  <a:schemeClr val="tx1"/>
                </a:solidFill>
                <a:latin typeface="Consolas"/>
              </a:rPr>
              <a:t>.plot()</a:t>
            </a: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 or </a:t>
            </a:r>
            <a:r>
              <a:rPr lang="en-US" sz="2000" dirty="0">
                <a:solidFill>
                  <a:schemeClr val="tx1"/>
                </a:solidFill>
                <a:latin typeface="Consolas"/>
              </a:rPr>
              <a:t>.plot(kind="line")</a:t>
            </a: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endParaRPr lang="en-US" sz="2000" dirty="0">
              <a:solidFill>
                <a:schemeClr val="tx1"/>
              </a:solidFill>
              <a:latin typeface="Barlow"/>
            </a:endParaRP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2.Scatter Plot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Use </a:t>
            </a:r>
            <a:r>
              <a:rPr lang="en-US" sz="24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DataFrame</a:t>
            </a:r>
            <a:r>
              <a:rPr lang="en-US" sz="2400" err="1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.plot</a:t>
            </a:r>
            <a:r>
              <a:rPr lang="en-US" sz="2400" dirty="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(kind="scatter")</a:t>
            </a:r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 for scatter plots.</a:t>
            </a:r>
            <a:endParaRPr lang="en-US" sz="24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Ensure columns used are </a:t>
            </a:r>
            <a:r>
              <a:rPr lang="en-US" sz="2400" b="1" dirty="0">
                <a:solidFill>
                  <a:schemeClr val="tx1"/>
                </a:solidFill>
                <a:ea typeface="+mn-lt"/>
                <a:cs typeface="+mn-lt"/>
              </a:rPr>
              <a:t>numeric</a:t>
            </a:r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 (e.g., Odometer vs Price).</a:t>
            </a:r>
            <a:endParaRPr lang="en-US" sz="24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450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38D916-95DD-04BC-F152-E7193CD24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9163E-D017-5DE4-3A8C-E389F145D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966A8BA-A49E-DA97-8A23-56BFE2D80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E409F6-D616-FF11-3F7C-40A099BD9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864A3-693F-B888-279B-42BA50714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930" y="625791"/>
            <a:ext cx="6923558" cy="1507109"/>
          </a:xfrm>
        </p:spPr>
        <p:txBody>
          <a:bodyPr anchor="b">
            <a:normAutofit/>
          </a:bodyPr>
          <a:lstStyle/>
          <a:p>
            <a:pPr algn="l"/>
            <a:r>
              <a:rPr lang="en-US" sz="3300" dirty="0">
                <a:latin typeface="Barlow"/>
                <a:ea typeface="+mj-lt"/>
                <a:cs typeface="+mj-lt"/>
              </a:rPr>
              <a:t>Plotting data directly with pandas</a:t>
            </a:r>
            <a:endParaRPr lang="en-US" dirty="0"/>
          </a:p>
          <a:p>
            <a:pPr algn="l"/>
            <a:endParaRPr lang="en-US" sz="5400" dirty="0"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EE3AA2-63AC-1525-EC83-700B50B66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930" y="1411485"/>
            <a:ext cx="5454962" cy="4483986"/>
          </a:xfrm>
        </p:spPr>
        <p:txBody>
          <a:bodyPr anchor="t">
            <a:normAutofit fontScale="92500" lnSpcReduction="10000"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3.Bar Plot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Create </a:t>
            </a:r>
            <a:r>
              <a:rPr lang="en-US" sz="2400" dirty="0" err="1">
                <a:solidFill>
                  <a:schemeClr val="tx1"/>
                </a:solidFill>
                <a:ea typeface="+mn-lt"/>
                <a:cs typeface="+mn-lt"/>
              </a:rPr>
              <a:t>DataFrame</a:t>
            </a:r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 from random numbers or existing data.</a:t>
            </a:r>
          </a:p>
          <a:p>
            <a:pPr marL="285750" indent="-285750" algn="l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Use </a:t>
            </a:r>
            <a:r>
              <a:rPr lang="en-US" sz="2400" dirty="0">
                <a:solidFill>
                  <a:schemeClr val="tx1"/>
                </a:solidFill>
                <a:latin typeface="Consolas"/>
              </a:rPr>
              <a:t>.</a:t>
            </a:r>
            <a:r>
              <a:rPr lang="en-US" sz="2400" dirty="0" err="1">
                <a:solidFill>
                  <a:schemeClr val="tx1"/>
                </a:solidFill>
                <a:latin typeface="Consolas"/>
              </a:rPr>
              <a:t>plot.bar</a:t>
            </a:r>
            <a:r>
              <a:rPr lang="en-US" sz="2400" dirty="0">
                <a:solidFill>
                  <a:schemeClr val="tx1"/>
                </a:solidFill>
                <a:latin typeface="Consolas"/>
              </a:rPr>
              <a:t>()</a:t>
            </a:r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 or </a:t>
            </a:r>
            <a:r>
              <a:rPr lang="en-US" sz="2400" dirty="0">
                <a:solidFill>
                  <a:schemeClr val="tx1"/>
                </a:solidFill>
                <a:latin typeface="Consolas"/>
              </a:rPr>
              <a:t>.plot(kind="bar</a:t>
            </a:r>
            <a:r>
              <a:rPr lang="en-US" sz="2400" dirty="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")</a:t>
            </a:r>
            <a:endParaRPr lang="en-US" sz="2000">
              <a:solidFill>
                <a:schemeClr val="tx1"/>
              </a:solidFill>
              <a:ea typeface="Calibri"/>
              <a:cs typeface="Calibri"/>
            </a:endParaRP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4.Histogram (Hist)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Shows data distribution.</a:t>
            </a:r>
            <a:endParaRPr lang="en-US" sz="24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Use </a:t>
            </a:r>
            <a:r>
              <a:rPr lang="en-US" sz="2400" dirty="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.</a:t>
            </a:r>
            <a:r>
              <a:rPr lang="en-US" sz="2400" dirty="0" err="1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plot.hist</a:t>
            </a:r>
            <a:r>
              <a:rPr lang="en-US" sz="2400" dirty="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()</a:t>
            </a:r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 or </a:t>
            </a:r>
            <a:r>
              <a:rPr lang="en-US" sz="2400" dirty="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.plot(kind="hist")</a:t>
            </a:r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 sz="24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Changing the bins parameter , we can put our data into different number of collections</a:t>
            </a:r>
          </a:p>
          <a:p>
            <a:pPr algn="l"/>
            <a:endParaRPr lang="en-US" b="1" dirty="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3287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2048878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5400" dirty="0"/>
              <a:t>Exploratory Data Analysis (EDA)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3076433"/>
            <a:ext cx="5428535" cy="281903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After completing data wrangling, EDA helps to understand the underlying patterns, relationships, and distributions in the dataset.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• EDA: Analyzing data characteristics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• Purpose: Patterns, anomalies, grasping the dataset structure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8FDF5D-7A2D-2C19-B6AD-0164AB6E6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7F93184-2137-27E6-DC85-61C3BC851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A6318EE-9469-B7D9-9D33-6716C077B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EA5872-11BC-62FB-74E7-4D1E1A5D1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02EDE1-1C43-D946-C3C5-4FB5FC94A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529284"/>
          </a:xfrm>
        </p:spPr>
        <p:txBody>
          <a:bodyPr anchor="b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US" sz="5400" dirty="0">
                <a:ea typeface="+mj-lt"/>
                <a:cs typeface="+mj-lt"/>
              </a:rPr>
              <a:t>Key Steps in EDA: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9EA47B-5533-1A28-5F49-89E4967A4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930" y="1530410"/>
            <a:ext cx="5468175" cy="472183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1. Understanding Data Distribution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742950" lvl="1" indent="-285750" algn="l">
              <a:buChar char="•"/>
            </a:pP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Examine how data is spread (e.g., normal distribution, skewed).</a:t>
            </a:r>
            <a:endParaRPr lang="en-US" sz="16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742950" lvl="1" indent="-285750" algn="l">
              <a:buChar char="•"/>
            </a:pP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Tools: </a:t>
            </a:r>
            <a:r>
              <a:rPr lang="en-US" sz="1600" err="1">
                <a:solidFill>
                  <a:schemeClr val="tx1"/>
                </a:solidFill>
                <a:latin typeface="Consolas"/>
              </a:rPr>
              <a:t>histplot</a:t>
            </a: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 (for numerical data), </a:t>
            </a:r>
            <a:r>
              <a:rPr lang="en-US" sz="1600" err="1">
                <a:solidFill>
                  <a:schemeClr val="tx1"/>
                </a:solidFill>
                <a:latin typeface="Consolas"/>
              </a:rPr>
              <a:t>countplot</a:t>
            </a: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 (for categorical data).</a:t>
            </a:r>
            <a:endParaRPr lang="en-US" sz="16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2.Descriptive Statistics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742950" lvl="1" indent="-285750" algn="l">
              <a:buChar char="•"/>
            </a:pP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Use </a:t>
            </a:r>
            <a:r>
              <a:rPr lang="en-US" sz="1600" err="1">
                <a:solidFill>
                  <a:schemeClr val="tx1"/>
                </a:solidFill>
                <a:latin typeface="Consolas"/>
              </a:rPr>
              <a:t>df.describe</a:t>
            </a:r>
            <a:r>
              <a:rPr lang="en-US" sz="1600" dirty="0">
                <a:solidFill>
                  <a:schemeClr val="tx1"/>
                </a:solidFill>
                <a:latin typeface="Consolas"/>
              </a:rPr>
              <a:t>()</a:t>
            </a: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 to get insights like mean, median, std, min, max.</a:t>
            </a:r>
            <a:endParaRPr lang="en-US" sz="16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742950" lvl="1" indent="-285750" algn="l">
              <a:buChar char="•"/>
            </a:pP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Check </a:t>
            </a:r>
            <a:r>
              <a:rPr lang="en-US" sz="1600" dirty="0">
                <a:solidFill>
                  <a:schemeClr val="tx1"/>
                </a:solidFill>
                <a:latin typeface="Consolas"/>
              </a:rPr>
              <a:t>df.info()</a:t>
            </a: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 for data types and missing values.</a:t>
            </a:r>
            <a:endParaRPr lang="en-US" sz="16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3.Visualizing Data Distributions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742950" lvl="1" indent="-285750" algn="l">
              <a:buChar char="•"/>
            </a:pP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Numeric Features:</a:t>
            </a:r>
            <a:endParaRPr lang="en-US" sz="16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200150" lvl="2" indent="-285750" algn="l">
              <a:buFont typeface="Wingdings"/>
              <a:buChar char="§"/>
            </a:pP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Use histograms (</a:t>
            </a:r>
            <a:r>
              <a:rPr lang="en-US" sz="1600" dirty="0" err="1">
                <a:solidFill>
                  <a:schemeClr val="tx1"/>
                </a:solidFill>
                <a:latin typeface="Consolas"/>
              </a:rPr>
              <a:t>sns.histplot</a:t>
            </a: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) to explore numeric variables.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 marL="742950" lvl="1" indent="-285750" algn="l">
              <a:buChar char="•"/>
            </a:pP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Categorical Features:</a:t>
            </a:r>
            <a:endParaRPr lang="en-US" sz="16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200150" lvl="2" indent="-285750" algn="l">
              <a:buFont typeface="Wingdings"/>
              <a:buChar char="§"/>
            </a:pP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Use count plots (</a:t>
            </a:r>
            <a:r>
              <a:rPr lang="en-US" sz="1600" dirty="0" err="1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sns.countplot</a:t>
            </a: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) for categories values. </a:t>
            </a:r>
          </a:p>
          <a:p>
            <a:pPr algn="l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endParaRPr lang="en-US" sz="1000">
              <a:solidFill>
                <a:srgbClr val="898989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7301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793BBF-61EF-1BBA-8967-59D520DA7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AE9F04-E831-1F92-3995-F293A7ED9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C555D218-36F7-8508-A4D9-CAAA36328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0B6469-4AB2-CD75-532C-5E234353D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273051-0B2D-72A6-9115-22CB8FB22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899272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5400" dirty="0">
                <a:ea typeface="+mj-lt"/>
                <a:cs typeface="+mj-lt"/>
              </a:rPr>
              <a:t>Key Steps in EDA: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10349-8E67-927E-909C-A9BCFEE87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930" y="1926827"/>
            <a:ext cx="5454962" cy="3968644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2" algn="l"/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4. Identifying Outliers</a:t>
            </a:r>
            <a:endParaRPr lang="en-US" sz="2000" dirty="0">
              <a:solidFill>
                <a:schemeClr val="tx1"/>
              </a:solidFill>
              <a:ea typeface="+mn-lt"/>
              <a:cs typeface="+mn-lt"/>
            </a:endParaRPr>
          </a:p>
          <a:p>
            <a:pPr marL="742950" lvl="1" indent="-285750" algn="l">
              <a:buFont typeface="Arial,Sans-Serif"/>
              <a:buChar char="•"/>
            </a:pP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Boxplots (</a:t>
            </a:r>
            <a:r>
              <a:rPr lang="en-US" sz="2000" err="1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sns.boxplot</a:t>
            </a: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) help visualize outliers.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742950" lvl="1" indent="-285750" algn="l">
              <a:buFont typeface="Arial,Sans-Serif"/>
              <a:buChar char="•"/>
            </a:pP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Look for points far from the main cluster.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5. Feature Relationships (Bivariate Analysis)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742950" lvl="1" indent="-285750" algn="l">
              <a:buFont typeface="Arial,Sans-Serif"/>
              <a:buChar char="•"/>
            </a:pPr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Numerical vs Numerical:</a:t>
            </a: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 Scatter plots (</a:t>
            </a:r>
            <a:r>
              <a:rPr lang="en-US" sz="2000" dirty="0" err="1">
                <a:solidFill>
                  <a:schemeClr val="tx1"/>
                </a:solidFill>
                <a:latin typeface="Consolas"/>
              </a:rPr>
              <a:t>sns.scatterplot</a:t>
            </a: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).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742950" lvl="1" indent="-285750" algn="l">
              <a:buFont typeface="Arial,Sans-Serif"/>
              <a:buChar char="•"/>
            </a:pPr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Categorical vs Numerical:</a:t>
            </a: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 Boxplots, Violin plots.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742950" lvl="1" indent="-285750" algn="l">
              <a:buFont typeface="Arial,Sans-Serif"/>
              <a:buChar char="•"/>
            </a:pPr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Categorical vs Categorical:</a:t>
            </a: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 Grouped bar plots, heatmaps.</a:t>
            </a:r>
            <a:endParaRPr lang="en-US" sz="200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019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991768"/>
          </a:xfrm>
        </p:spPr>
        <p:txBody>
          <a:bodyPr anchor="b">
            <a:normAutofit/>
          </a:bodyPr>
          <a:lstStyle/>
          <a:p>
            <a:pPr algn="l"/>
            <a:r>
              <a:rPr lang="en-US" b="1" dirty="0"/>
              <a:t>Detecting Skewness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2032537"/>
            <a:ext cx="5428535" cy="3862934"/>
          </a:xfrm>
        </p:spPr>
        <p:txBody>
          <a:bodyPr anchor="t">
            <a:normAutofit/>
          </a:bodyPr>
          <a:lstStyle/>
          <a:p>
            <a:pPr algn="l"/>
            <a:endParaRPr lang="en-US" sz="20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Skewness measures asymmetry of a distribution.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A skewness &gt; 1 or &lt; -1 indicates high skew.</a:t>
            </a:r>
            <a:endParaRPr lang="en-US" sz="200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Skewed features</a:t>
            </a: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 can lead to poor model performance (e.g., regression).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endParaRPr lang="en-US" sz="1500" dirty="0">
              <a:ea typeface="Calibri"/>
              <a:cs typeface="Calibri"/>
            </a:endParaRPr>
          </a:p>
          <a:p>
            <a:pPr algn="l">
              <a:lnSpc>
                <a:spcPct val="90000"/>
              </a:lnSpc>
              <a:buFont typeface="Arial" pitchFamily="34" charset="0"/>
              <a:buChar char="•"/>
            </a:pPr>
            <a:endParaRPr lang="en-US" sz="1500"/>
          </a:p>
          <a:p>
            <a:pPr algn="l">
              <a:lnSpc>
                <a:spcPct val="90000"/>
              </a:lnSpc>
            </a:pPr>
            <a:endParaRPr lang="en-US" sz="1500"/>
          </a:p>
          <a:p>
            <a:pPr algn="l">
              <a:lnSpc>
                <a:spcPct val="90000"/>
              </a:lnSpc>
            </a:pPr>
            <a:endParaRPr lang="en-US"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639EF-0722-B4E1-228D-EA67ED2FA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8AE0A06-7899-8474-CDB6-85C5AE36C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68DC52DD-5A86-D4BB-D95F-127F62AF7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8A9DA4-E891-4879-2EF8-16F03D75B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C6CA1D-B360-2750-23D3-55BA08C61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99176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endParaRPr lang="en-US" b="1" dirty="0"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endParaRPr lang="en-US"/>
          </a:p>
          <a:p>
            <a:pPr algn="l"/>
            <a:r>
              <a:rPr lang="en-US" sz="4800" b="1" dirty="0">
                <a:ea typeface="Calibri"/>
                <a:cs typeface="Calibri"/>
              </a:rPr>
              <a:t>Data Transformation Techniques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F2728-DC2B-46B8-92C4-8952A19A4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930" y="2032537"/>
            <a:ext cx="5428535" cy="3862934"/>
          </a:xfrm>
        </p:spPr>
        <p:txBody>
          <a:bodyPr anchor="t">
            <a:normAutofit fontScale="92500" lnSpcReduction="20000"/>
          </a:bodyPr>
          <a:lstStyle/>
          <a:p>
            <a:pPr algn="l"/>
            <a:endParaRPr lang="en-US" sz="28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>
              <a:spcBef>
                <a:spcPct val="0"/>
              </a:spcBef>
            </a:pPr>
            <a:r>
              <a:rPr lang="en-US" sz="2800" dirty="0">
                <a:solidFill>
                  <a:schemeClr val="tx1"/>
                </a:solidFill>
                <a:ea typeface="Calibri"/>
                <a:cs typeface="Calibri"/>
              </a:rPr>
              <a:t>-To reduce skewness and normalize data distributions:</a:t>
            </a:r>
          </a:p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tx1"/>
                </a:solidFill>
                <a:ea typeface="Calibri"/>
                <a:cs typeface="Calibri"/>
              </a:rPr>
              <a:t>Log Transformation</a:t>
            </a:r>
            <a:r>
              <a:rPr lang="en-US" sz="2800" dirty="0">
                <a:solidFill>
                  <a:schemeClr val="tx1"/>
                </a:solidFill>
                <a:ea typeface="Calibri"/>
                <a:cs typeface="Calibri"/>
              </a:rPr>
              <a:t>:</a:t>
            </a:r>
          </a:p>
          <a:p>
            <a:pPr marL="285750" lvl="1" indent="-285750" algn="l">
              <a:spcBef>
                <a:spcPts val="0"/>
              </a:spcBef>
              <a:buFont typeface="Arial,Sans-Serif"/>
              <a:buChar char="•"/>
            </a:pPr>
            <a:r>
              <a:rPr lang="en-US" sz="2400" dirty="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np.log1p(x)</a:t>
            </a:r>
            <a:r>
              <a:rPr lang="en-US" sz="2400" dirty="0">
                <a:solidFill>
                  <a:schemeClr val="tx1"/>
                </a:solidFill>
                <a:ea typeface="Calibri"/>
                <a:cs typeface="Calibri"/>
              </a:rPr>
              <a:t> for positive data.</a:t>
            </a:r>
          </a:p>
          <a:p>
            <a:pPr marL="285750" lvl="1" indent="-285750" algn="l">
              <a:spcBef>
                <a:spcPts val="0"/>
              </a:spcBef>
              <a:buFont typeface="Arial,Sans-Serif"/>
              <a:buChar char="•"/>
            </a:pPr>
            <a:r>
              <a:rPr lang="en-US" sz="2400" dirty="0">
                <a:solidFill>
                  <a:schemeClr val="tx1"/>
                </a:solidFill>
                <a:ea typeface="Calibri"/>
                <a:cs typeface="Calibri"/>
              </a:rPr>
              <a:t>Useful when data has a long right tail (positive skew).</a:t>
            </a:r>
          </a:p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tx1"/>
                </a:solidFill>
                <a:ea typeface="Calibri"/>
                <a:cs typeface="Calibri"/>
              </a:rPr>
              <a:t>Square Root Transformation</a:t>
            </a:r>
            <a:r>
              <a:rPr lang="en-US" sz="2800" dirty="0">
                <a:solidFill>
                  <a:schemeClr val="tx1"/>
                </a:solidFill>
                <a:ea typeface="Calibri"/>
                <a:cs typeface="Calibri"/>
              </a:rPr>
              <a:t>:</a:t>
            </a:r>
          </a:p>
          <a:p>
            <a:pPr marL="285750" lvl="1" indent="-285750" algn="l">
              <a:spcBef>
                <a:spcPts val="0"/>
              </a:spcBef>
              <a:buFont typeface="Arial,Sans-Serif"/>
              <a:buChar char="•"/>
            </a:pPr>
            <a:r>
              <a:rPr lang="en-US" sz="2400" dirty="0">
                <a:solidFill>
                  <a:schemeClr val="tx1"/>
                </a:solidFill>
                <a:ea typeface="Calibri"/>
                <a:cs typeface="Calibri"/>
              </a:rPr>
              <a:t>Reduces moderate skew.</a:t>
            </a:r>
          </a:p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tx1"/>
                </a:solidFill>
                <a:ea typeface="Calibri"/>
                <a:cs typeface="Calibri"/>
              </a:rPr>
              <a:t>Box-Cox Transformation</a:t>
            </a:r>
            <a:r>
              <a:rPr lang="en-US" sz="2800" dirty="0">
                <a:solidFill>
                  <a:schemeClr val="tx1"/>
                </a:solidFill>
                <a:ea typeface="Calibri"/>
                <a:cs typeface="Calibri"/>
              </a:rPr>
              <a:t>:</a:t>
            </a:r>
          </a:p>
          <a:p>
            <a:pPr marL="285750" lvl="1" indent="-285750" algn="l">
              <a:spcBef>
                <a:spcPts val="0"/>
              </a:spcBef>
              <a:buFont typeface="Arial,Sans-Serif"/>
              <a:buChar char="•"/>
            </a:pPr>
            <a:r>
              <a:rPr lang="en-US" sz="2400" dirty="0">
                <a:solidFill>
                  <a:schemeClr val="tx1"/>
                </a:solidFill>
                <a:ea typeface="Calibri"/>
                <a:cs typeface="Calibri"/>
              </a:rPr>
              <a:t>Works for positive data; finds best lambda for normalization</a:t>
            </a:r>
            <a:endParaRPr lang="en-US" sz="2400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</a:pPr>
            <a:endParaRPr lang="en-US" sz="1500" dirty="0">
              <a:ea typeface="Calibri"/>
              <a:cs typeface="Calibri"/>
            </a:endParaRPr>
          </a:p>
          <a:p>
            <a:pPr algn="l">
              <a:lnSpc>
                <a:spcPct val="90000"/>
              </a:lnSpc>
              <a:buFont typeface="Arial" pitchFamily="34" charset="0"/>
              <a:buChar char="•"/>
            </a:pPr>
            <a:endParaRPr lang="en-US" sz="1500"/>
          </a:p>
          <a:p>
            <a:pPr algn="l">
              <a:lnSpc>
                <a:spcPct val="90000"/>
              </a:lnSpc>
            </a:pPr>
            <a:endParaRPr lang="en-US" sz="1500"/>
          </a:p>
          <a:p>
            <a:pPr algn="l">
              <a:lnSpc>
                <a:spcPct val="90000"/>
              </a:lnSpc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211869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846416"/>
          </a:xfrm>
        </p:spPr>
        <p:txBody>
          <a:bodyPr anchor="b">
            <a:normAutofit/>
          </a:bodyPr>
          <a:lstStyle/>
          <a:p>
            <a:pPr algn="l"/>
            <a:r>
              <a:rPr lang="en-US" dirty="0"/>
              <a:t>Outlier removal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2415740"/>
            <a:ext cx="5454962" cy="34797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endParaRPr lang="en-US" sz="1800" dirty="0"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endParaRPr lang="en-US" sz="18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7611BD-CB83-9A6D-0C1A-F1D791474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507058"/>
              </p:ext>
            </p:extLst>
          </p:nvPr>
        </p:nvGraphicFramePr>
        <p:xfrm>
          <a:off x="832473" y="1717803"/>
          <a:ext cx="7060788" cy="4114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53596">
                  <a:extLst>
                    <a:ext uri="{9D8B030D-6E8A-4147-A177-3AD203B41FA5}">
                      <a16:colId xmlns:a16="http://schemas.microsoft.com/office/drawing/2014/main" val="1360866260"/>
                    </a:ext>
                  </a:extLst>
                </a:gridCol>
                <a:gridCol w="2353596">
                  <a:extLst>
                    <a:ext uri="{9D8B030D-6E8A-4147-A177-3AD203B41FA5}">
                      <a16:colId xmlns:a16="http://schemas.microsoft.com/office/drawing/2014/main" val="746936715"/>
                    </a:ext>
                  </a:extLst>
                </a:gridCol>
                <a:gridCol w="2353596">
                  <a:extLst>
                    <a:ext uri="{9D8B030D-6E8A-4147-A177-3AD203B41FA5}">
                      <a16:colId xmlns:a16="http://schemas.microsoft.com/office/drawing/2014/main" val="549037502"/>
                    </a:ext>
                  </a:extLst>
                </a:gridCol>
              </a:tblGrid>
              <a:tr h="352888">
                <a:tc>
                  <a:txBody>
                    <a:bodyPr/>
                    <a:lstStyle/>
                    <a:p>
                      <a:r>
                        <a:rPr lang="en-GB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Pros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Cons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187981"/>
                  </a:ext>
                </a:extLst>
              </a:tr>
              <a:tr h="617555">
                <a:tc>
                  <a:txBody>
                    <a:bodyPr/>
                    <a:lstStyle/>
                    <a:p>
                      <a:r>
                        <a:rPr lang="en-GB" b="1"/>
                        <a:t>1. Removal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Simple, removes extreme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Loss of data, may discard valid extremes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14384"/>
                  </a:ext>
                </a:extLst>
              </a:tr>
              <a:tr h="617555">
                <a:tc>
                  <a:txBody>
                    <a:bodyPr/>
                    <a:lstStyle/>
                    <a:p>
                      <a:r>
                        <a:rPr lang="en-GB" b="1"/>
                        <a:t>2. Capping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Retains all data, reduces 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Choice of percentile is arbitrary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434778"/>
                  </a:ext>
                </a:extLst>
              </a:tr>
              <a:tr h="617555">
                <a:tc>
                  <a:txBody>
                    <a:bodyPr/>
                    <a:lstStyle/>
                    <a:p>
                      <a:r>
                        <a:rPr lang="en-GB" b="1"/>
                        <a:t>3. Transformation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Normalizes skew, effective for right-skewed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Not always suitable, log not for zero/negative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653990"/>
                  </a:ext>
                </a:extLst>
              </a:tr>
              <a:tr h="882222">
                <a:tc>
                  <a:txBody>
                    <a:bodyPr/>
                    <a:lstStyle/>
                    <a:p>
                      <a:r>
                        <a:rPr lang="en-GB" b="1"/>
                        <a:t>4. Imputation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Retains data, simple to apply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Can introduce bias, not suitable if outliers hold 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950876"/>
                  </a:ext>
                </a:extLst>
              </a:tr>
              <a:tr h="617555">
                <a:tc>
                  <a:txBody>
                    <a:bodyPr/>
                    <a:lstStyle/>
                    <a:p>
                      <a:r>
                        <a:rPr lang="en-GB" b="1"/>
                        <a:t>5. Z-Score Method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Data-driven, works for normal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Not for non-normal distributions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3872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1256046"/>
          </a:xfrm>
        </p:spPr>
        <p:txBody>
          <a:bodyPr anchor="b">
            <a:normAutofit/>
          </a:bodyPr>
          <a:lstStyle/>
          <a:p>
            <a:pPr algn="l"/>
            <a:r>
              <a:rPr lang="en-US" sz="5400" dirty="0">
                <a:ea typeface="Calibri"/>
                <a:cs typeface="Calibri"/>
              </a:rPr>
              <a:t>Key Takeaways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2759301"/>
            <a:ext cx="5454962" cy="2845465"/>
          </a:xfrm>
        </p:spPr>
        <p:txBody>
          <a:bodyPr anchor="t">
            <a:norm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ea typeface="+mn-lt"/>
                <a:cs typeface="+mn-lt"/>
              </a:rPr>
              <a:t>AI and Data Science: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Work hand-in-hand for creating intelligent systems.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ea typeface="+mn-lt"/>
                <a:cs typeface="+mn-lt"/>
              </a:rPr>
              <a:t>Data Wrangling: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A crucial step in preparing data for analysis and modeling.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ea typeface="+mn-lt"/>
                <a:cs typeface="+mn-lt"/>
              </a:rPr>
              <a:t>Matplotlib: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A versatile tool for creating visualizations in Python.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ea typeface="+mn-lt"/>
                <a:cs typeface="+mn-lt"/>
              </a:rPr>
              <a:t>EDA (Exploratory Data Analysis):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Helps uncover patterns and insights before applying ML.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endParaRPr lang="en-US" sz="18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endParaRPr lang="en-US" sz="1800" dirty="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436</Words>
  <Application>Microsoft Office PowerPoint</Application>
  <PresentationFormat>On-screen Show (4:3)</PresentationFormat>
  <Paragraphs>69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Introduction</vt:lpstr>
      <vt:lpstr>Introduction to AI &amp; Data Science</vt:lpstr>
      <vt:lpstr>What is Data Science?</vt:lpstr>
      <vt:lpstr>Data is wealth</vt:lpstr>
      <vt:lpstr>Data Wrangling</vt:lpstr>
      <vt:lpstr>Data Wrangling Techniques</vt:lpstr>
      <vt:lpstr>Introduction to Matplotlib</vt:lpstr>
      <vt:lpstr>Basic Plots with Matplotlib</vt:lpstr>
      <vt:lpstr>Two ways of creating plots</vt:lpstr>
      <vt:lpstr>Matplotlib Plot Terminology</vt:lpstr>
      <vt:lpstr>Common type of plots using NumPy arrays</vt:lpstr>
      <vt:lpstr>Subplots with Multiple Axes </vt:lpstr>
      <vt:lpstr>Plotting data directly with pandas </vt:lpstr>
      <vt:lpstr>Plotting data directly with pandas </vt:lpstr>
      <vt:lpstr>Exploratory Data Analysis (EDA)</vt:lpstr>
      <vt:lpstr>Key Steps in EDA:</vt:lpstr>
      <vt:lpstr>Key Steps in EDA:</vt:lpstr>
      <vt:lpstr>Detecting Skewness</vt:lpstr>
      <vt:lpstr>  Data Transformation Techniques</vt:lpstr>
      <vt:lpstr>Outlier removal techniques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&amp; AI Fundamentals</dc:title>
  <dc:creator>HP</dc:creator>
  <cp:lastModifiedBy>HP</cp:lastModifiedBy>
  <cp:revision>279</cp:revision>
  <dcterms:created xsi:type="dcterms:W3CDTF">2025-05-27T04:53:16Z</dcterms:created>
  <dcterms:modified xsi:type="dcterms:W3CDTF">2025-05-27T15:01:51Z</dcterms:modified>
</cp:coreProperties>
</file>